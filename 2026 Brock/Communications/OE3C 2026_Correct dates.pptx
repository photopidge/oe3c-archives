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8"/>
  </p:notesMasterIdLst>
  <p:sldIdLst>
    <p:sldId id="256" r:id="rId5"/>
    <p:sldId id="258" r:id="rId6"/>
    <p:sldId id="259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B709CD6-DC98-4AFC-979B-5A050A847BC8}" v="23" dt="2025-10-10T18:19:33.47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89" autoAdjust="0"/>
    <p:restoredTop sz="52941" autoAdjust="0"/>
  </p:normalViewPr>
  <p:slideViewPr>
    <p:cSldViewPr snapToGrid="0">
      <p:cViewPr varScale="1">
        <p:scale>
          <a:sx n="52" d="100"/>
          <a:sy n="52" d="100"/>
        </p:scale>
        <p:origin x="1041" y="2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x Wilder" userId="S::aw21sm@brocku.ca::fad71875-b556-4f55-875a-330ad0e3100e" providerId="AD" clId="Web-{5B709CD6-DC98-4AFC-979B-5A050A847BC8}"/>
    <pc:docChg chg="modSld">
      <pc:chgData name="Alex Wilder" userId="S::aw21sm@brocku.ca::fad71875-b556-4f55-875a-330ad0e3100e" providerId="AD" clId="Web-{5B709CD6-DC98-4AFC-979B-5A050A847BC8}" dt="2025-10-10T18:19:33.479" v="19" actId="1076"/>
      <pc:docMkLst>
        <pc:docMk/>
      </pc:docMkLst>
      <pc:sldChg chg="modSp">
        <pc:chgData name="Alex Wilder" userId="S::aw21sm@brocku.ca::fad71875-b556-4f55-875a-330ad0e3100e" providerId="AD" clId="Web-{5B709CD6-DC98-4AFC-979B-5A050A847BC8}" dt="2025-10-10T18:19:03.682" v="13" actId="1076"/>
        <pc:sldMkLst>
          <pc:docMk/>
          <pc:sldMk cId="2148085886" sldId="256"/>
        </pc:sldMkLst>
        <pc:spChg chg="mod">
          <ac:chgData name="Alex Wilder" userId="S::aw21sm@brocku.ca::fad71875-b556-4f55-875a-330ad0e3100e" providerId="AD" clId="Web-{5B709CD6-DC98-4AFC-979B-5A050A847BC8}" dt="2025-10-10T18:19:03.682" v="13" actId="1076"/>
          <ac:spMkLst>
            <pc:docMk/>
            <pc:sldMk cId="2148085886" sldId="256"/>
            <ac:spMk id="2" creationId="{0933E94A-7DBF-C8AC-DDE1-2DF423C43AF7}"/>
          </ac:spMkLst>
        </pc:spChg>
      </pc:sldChg>
      <pc:sldChg chg="modSp">
        <pc:chgData name="Alex Wilder" userId="S::aw21sm@brocku.ca::fad71875-b556-4f55-875a-330ad0e3100e" providerId="AD" clId="Web-{5B709CD6-DC98-4AFC-979B-5A050A847BC8}" dt="2025-10-10T18:18:49.025" v="9" actId="20577"/>
        <pc:sldMkLst>
          <pc:docMk/>
          <pc:sldMk cId="514539459" sldId="258"/>
        </pc:sldMkLst>
        <pc:spChg chg="mod">
          <ac:chgData name="Alex Wilder" userId="S::aw21sm@brocku.ca::fad71875-b556-4f55-875a-330ad0e3100e" providerId="AD" clId="Web-{5B709CD6-DC98-4AFC-979B-5A050A847BC8}" dt="2025-10-10T18:18:49.025" v="9" actId="20577"/>
          <ac:spMkLst>
            <pc:docMk/>
            <pc:sldMk cId="514539459" sldId="258"/>
            <ac:spMk id="2" creationId="{ABB4746B-A4CE-56CE-1C2D-EA1B8BE419FC}"/>
          </ac:spMkLst>
        </pc:spChg>
      </pc:sldChg>
      <pc:sldChg chg="modSp">
        <pc:chgData name="Alex Wilder" userId="S::aw21sm@brocku.ca::fad71875-b556-4f55-875a-330ad0e3100e" providerId="AD" clId="Web-{5B709CD6-DC98-4AFC-979B-5A050A847BC8}" dt="2025-10-10T18:19:33.479" v="19" actId="1076"/>
        <pc:sldMkLst>
          <pc:docMk/>
          <pc:sldMk cId="3490877089" sldId="259"/>
        </pc:sldMkLst>
        <pc:spChg chg="mod">
          <ac:chgData name="Alex Wilder" userId="S::aw21sm@brocku.ca::fad71875-b556-4f55-875a-330ad0e3100e" providerId="AD" clId="Web-{5B709CD6-DC98-4AFC-979B-5A050A847BC8}" dt="2025-10-10T18:19:33.479" v="19" actId="1076"/>
          <ac:spMkLst>
            <pc:docMk/>
            <pc:sldMk cId="3490877089" sldId="259"/>
            <ac:spMk id="2" creationId="{71A8BD35-C6BD-4DEB-8514-C6CBC1EBE917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6A95A9-67C8-4940-9996-5EB411D20B4D}" type="datetimeFigureOut">
              <a:rPr lang="en-CA" smtClean="0"/>
              <a:t>2025-10-10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F5147E-9A88-4B14-BB2F-57A016A8349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476667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CA" dirty="0"/>
              <a:t>Brock University is located on the Niagara Escarpment, a UNESCO World Biosphere Reserve, one of 12 in Canada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CA" dirty="0"/>
              <a:t>Brock University is located in and near the famous Niagara, Niagara on the Lake, and the Bench wine growing and wine making areas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CA" dirty="0"/>
              <a:t>Brock University is near the beautiful Canadian side of Niagara Falls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CA" dirty="0"/>
              <a:t>We welcome you May 7-9, 2026. Look forward to workshops, evening socials, networking opportunities, and of course – amazing science!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CA" dirty="0"/>
              <a:t>Please note, this is not the official theme, just something that can be explored!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CA" dirty="0"/>
              <a:t>See you next year!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F5147E-9A88-4B14-BB2F-57A016A8349D}" type="slidenum">
              <a:rPr lang="en-CA" smtClean="0"/>
              <a:t>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934813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CA" dirty="0"/>
              <a:t>Brock University is located on the Niagara Escarpment, a UNESCO World Biosphere Reserve, one of 12 in Canada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CA" dirty="0"/>
              <a:t>Brock University is located in and near the famous Niagara, Niagara on the Lake, and the Bench wine growing and wine making areas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CA" dirty="0"/>
              <a:t>Brock University is near the beautiful Canadian side of Niagara Falls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CA" dirty="0"/>
              <a:t>We welcome you May 7-9, 2026. Look forward to workshops, evening socials, networking opportunities, and of course – amazing science!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CA" dirty="0"/>
              <a:t>Please note, this is not the official theme, just something that can be explored!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CA" dirty="0"/>
              <a:t>See you next year!</a:t>
            </a:r>
          </a:p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F5147E-9A88-4B14-BB2F-57A016A8349D}" type="slidenum">
              <a:rPr lang="en-CA" smtClean="0"/>
              <a:t>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687012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CA" dirty="0"/>
              <a:t>Brock University is located on the Niagara Escarpment, a UNESCO World Biosphere Reserve, one of 12 in Canada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CA" dirty="0"/>
              <a:t>Brock University is located in and near the famous Niagara, Niagara on the Lake, and the Bench wine growing and wine making areas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CA" dirty="0"/>
              <a:t>Brock University is near the beautiful Canadian side of Niagara Falls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CA" dirty="0"/>
              <a:t>We welcome you May 7-9, 2026. Look forward to workshops, evening socials, networking opportunities, and of course – amazing science!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CA" dirty="0"/>
              <a:t>Please note, this is not the official theme, just something that can be explored!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CA" dirty="0"/>
              <a:t>See you next year!</a:t>
            </a:r>
          </a:p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F5147E-9A88-4B14-BB2F-57A016A8349D}" type="slidenum">
              <a:rPr lang="en-CA" smtClean="0"/>
              <a:t>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355708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4A8D8-09AC-39F2-1A71-DC841F9A69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354CEB-BF97-CDDD-A2DB-D526EA8660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B5BCAD-09A0-F125-2603-1538E77C72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AC035-DC31-44B9-A4A5-5E84107C003D}" type="datetimeFigureOut">
              <a:rPr lang="en-CA" smtClean="0"/>
              <a:t>2025-10-10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D0435C-7BF2-9D1C-3E9F-EE24E6D74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6CF49E-5520-B443-CAF5-F64D44701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24E0A-B12D-415D-86D1-01DAD63F397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851342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B4C7ED-AEAB-6BF5-277C-AC2A902FC0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263613-9A81-F397-D9BD-7655049DFC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7FAC91-52B0-2C96-CDAF-F6C3976105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AC035-DC31-44B9-A4A5-5E84107C003D}" type="datetimeFigureOut">
              <a:rPr lang="en-CA" smtClean="0"/>
              <a:t>2025-10-10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F1F962-3CAC-2D66-CFDB-0847FB877D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6BEB2E-71BC-C8FE-14FA-F726F030BC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24E0A-B12D-415D-86D1-01DAD63F397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25610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86F834-7E6A-AED8-3975-DE8DB47DF9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89F54F-241F-87AF-5186-BFA77C4690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12D3AE-AD73-DAD6-664D-EB79D3A386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AC035-DC31-44B9-A4A5-5E84107C003D}" type="datetimeFigureOut">
              <a:rPr lang="en-CA" smtClean="0"/>
              <a:t>2025-10-10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39BC40-D4B6-FE1A-C55C-ABF711D7BE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6BD7FB-D647-FC7A-A609-03AED50EA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24E0A-B12D-415D-86D1-01DAD63F397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739758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9CD02-7007-D3E5-BD8F-D3F372700A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F6AAB3-D3CD-3F9A-265D-BFCD140A1A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6F9E5D-597F-C645-51CA-C9F508FEA7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751225-C9AC-A01A-18A2-16EC04B2E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AC035-DC31-44B9-A4A5-5E84107C003D}" type="datetimeFigureOut">
              <a:rPr lang="en-CA" smtClean="0"/>
              <a:t>2025-10-10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69C1EE-330A-7ED0-5BEE-293D2A1CC3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E83A3F-8803-F8C7-0442-67EB20873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24E0A-B12D-415D-86D1-01DAD63F397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892153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8F222-1B8E-110E-E1A7-851DA20FC1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941E83-F85A-C4BA-1692-3F8221A86B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4A0755-EF80-6BAD-055A-98D1910E7E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E0D0E64-DA39-E368-F5DD-504B3AED7C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40AA3AF-0B1E-4582-D643-4595147C7EB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01C655B-A2F1-8CF3-2BC7-DA3680FD0C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AC035-DC31-44B9-A4A5-5E84107C003D}" type="datetimeFigureOut">
              <a:rPr lang="en-CA" smtClean="0"/>
              <a:t>2025-10-10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0F97212-3190-3829-8A7C-C91680DBB1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37CFB7A-E8BE-BB2E-77A5-376DA783B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24E0A-B12D-415D-86D1-01DAD63F397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968012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19E618-BB6A-3825-5F31-612F30ACD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C80527-A10E-F414-3A0F-3ECED9816A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AC035-DC31-44B9-A4A5-5E84107C003D}" type="datetimeFigureOut">
              <a:rPr lang="en-CA" smtClean="0"/>
              <a:t>2025-10-10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68A30A-AC9A-674A-0DDB-7C012FE18D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6AB513-A0FC-35D8-7518-3499B43D2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24E0A-B12D-415D-86D1-01DAD63F397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885587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8220F4F-D095-B521-2AA8-59F9E81A4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AC035-DC31-44B9-A4A5-5E84107C003D}" type="datetimeFigureOut">
              <a:rPr lang="en-CA" smtClean="0"/>
              <a:t>2025-10-10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DC76553-E07B-6880-E8C3-1041AD782E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9B731B-B051-D1B6-59FB-4E7F2F83C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24E0A-B12D-415D-86D1-01DAD63F397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738009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736A84-0736-B59F-5041-4D24A48DD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BF253B-F241-ECA5-8082-CB064106F0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FED6EA-E359-6322-AA27-3B9AD57F7C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FF7240-7007-EF8A-8139-EC449DF559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AC035-DC31-44B9-A4A5-5E84107C003D}" type="datetimeFigureOut">
              <a:rPr lang="en-CA" smtClean="0"/>
              <a:t>2025-10-10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F563ED-6FAA-5B0C-9D54-82966C1A03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201456-A51E-55D2-F50B-07FBBCE8E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24E0A-B12D-415D-86D1-01DAD63F397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127415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2DCB8-5F36-217C-64A2-3FAEB902EB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11045E3-8090-2D29-3BD8-BF8FEC8564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3071E2-478B-5D7D-396F-E3046206B5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197828-A50D-BF85-C5FE-2F18904D89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AC035-DC31-44B9-A4A5-5E84107C003D}" type="datetimeFigureOut">
              <a:rPr lang="en-CA" smtClean="0"/>
              <a:t>2025-10-10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94546F-3FC8-6A29-7C16-A3783E84C7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EE02EA-C314-B89F-8EBD-F9861DBD8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24E0A-B12D-415D-86D1-01DAD63F397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83761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9C613B-9FB7-F335-C722-21388F0427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A5A767-5DAD-7103-B939-04686502AA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46AC82-E46A-B133-4B3D-07B8D3984E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AC035-DC31-44B9-A4A5-5E84107C003D}" type="datetimeFigureOut">
              <a:rPr lang="en-CA" smtClean="0"/>
              <a:t>2025-10-10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FB980C-BEC2-E46F-288D-96B78F5C9D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1B7C57-6857-31D5-5441-805FFB933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24E0A-B12D-415D-86D1-01DAD63F397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05663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BBD799F-77EC-976A-70EC-3BEFB6D670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C2BFC4-DEC7-8979-264A-F86468C8C3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B5A878-DC9C-6E4F-D430-CCE7364896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AC035-DC31-44B9-A4A5-5E84107C003D}" type="datetimeFigureOut">
              <a:rPr lang="en-CA" smtClean="0"/>
              <a:t>2025-10-10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4AA6E8-DABA-4654-9CA3-C4FF004033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7D5BEA-2979-D89C-E029-173CA8959F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24E0A-B12D-415D-86D1-01DAD63F397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778171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E0DF34F-746F-61FE-8048-9E01CBD7C9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A550E6-A3AA-4073-AEC9-C3188D65C1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C0EC59-13EA-9959-570A-90C96066DC1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3AC035-DC31-44B9-A4A5-5E84107C003D}" type="datetimeFigureOut">
              <a:rPr lang="en-CA" smtClean="0"/>
              <a:t>2025-10-10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A93666-C7B0-285F-F27C-3E2A1DF67B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8AF131-E19E-2851-DA73-7B2D5B24B9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724E0A-B12D-415D-86D1-01DAD63F397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675134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3" Type="http://schemas.openxmlformats.org/officeDocument/2006/relationships/image" Target="../media/image1.jpg"/><Relationship Id="rId7" Type="http://schemas.openxmlformats.org/officeDocument/2006/relationships/image" Target="../media/image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g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3" Type="http://schemas.openxmlformats.org/officeDocument/2006/relationships/image" Target="../media/image1.jpg"/><Relationship Id="rId7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jpg"/><Relationship Id="rId5" Type="http://schemas.openxmlformats.org/officeDocument/2006/relationships/image" Target="../media/image4.jpg"/><Relationship Id="rId4" Type="http://schemas.openxmlformats.org/officeDocument/2006/relationships/image" Target="../media/image5.jp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g"/><Relationship Id="rId3" Type="http://schemas.openxmlformats.org/officeDocument/2006/relationships/image" Target="../media/image6.jpg"/><Relationship Id="rId7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g"/><Relationship Id="rId5" Type="http://schemas.openxmlformats.org/officeDocument/2006/relationships/image" Target="../media/image1.jpg"/><Relationship Id="rId4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low angle view of a building&#10;&#10;AI-generated content may be incorrect.">
            <a:extLst>
              <a:ext uri="{FF2B5EF4-FFF2-40B4-BE49-F238E27FC236}">
                <a16:creationId xmlns:a16="http://schemas.microsoft.com/office/drawing/2014/main" id="{D4D33BFB-D9B2-1A4C-C039-B3229FD7F3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068" r="-1" b="10628"/>
          <a:stretch/>
        </p:blipFill>
        <p:spPr>
          <a:xfrm>
            <a:off x="462343" y="453918"/>
            <a:ext cx="4425623" cy="1868815"/>
          </a:xfrm>
          <a:prstGeom prst="rect">
            <a:avLst/>
          </a:prstGeom>
        </p:spPr>
      </p:pic>
      <p:pic>
        <p:nvPicPr>
          <p:cNvPr id="15" name="Picture 14" descr="A bunches of grapes on a vine&#10;&#10;AI-generated content may be incorrect.">
            <a:extLst>
              <a:ext uri="{FF2B5EF4-FFF2-40B4-BE49-F238E27FC236}">
                <a16:creationId xmlns:a16="http://schemas.microsoft.com/office/drawing/2014/main" id="{068D7E20-EFE1-D232-8399-3B3FBBCB8DB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888" r="-1" b="-1"/>
          <a:stretch/>
        </p:blipFill>
        <p:spPr>
          <a:xfrm>
            <a:off x="455134" y="2482591"/>
            <a:ext cx="4425623" cy="391820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063F52A-68B5-48D6-D244-DF55B751742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721" r="34721"/>
          <a:stretch/>
        </p:blipFill>
        <p:spPr>
          <a:xfrm>
            <a:off x="5039581" y="455276"/>
            <a:ext cx="2128524" cy="3918209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3634A21A-3D5D-4DFA-99F4-16A0319865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21624" y="453918"/>
            <a:ext cx="4413176" cy="3918209"/>
          </a:xfrm>
          <a:prstGeom prst="rect">
            <a:avLst/>
          </a:prstGeom>
          <a:solidFill>
            <a:srgbClr val="475A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933E94A-7DBF-C8AC-DDE1-2DF423C43A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25340" y="2080216"/>
            <a:ext cx="4204789" cy="2079811"/>
          </a:xfrm>
        </p:spPr>
        <p:txBody>
          <a:bodyPr>
            <a:normAutofit fontScale="90000"/>
          </a:bodyPr>
          <a:lstStyle/>
          <a:p>
            <a:r>
              <a:rPr lang="en-CA" sz="4800" b="1" dirty="0">
                <a:solidFill>
                  <a:srgbClr val="FFFFFF"/>
                </a:solidFill>
                <a:latin typeface="Verdana"/>
                <a:ea typeface="Verdana"/>
              </a:rPr>
              <a:t>OE3C 2026</a:t>
            </a:r>
            <a:br>
              <a:rPr lang="en-CA" sz="4800" b="1" dirty="0">
                <a:latin typeface="Verdana" panose="020B0604030504040204" pitchFamily="34" charset="0"/>
                <a:ea typeface="Verdana" panose="020B0604030504040204" pitchFamily="34" charset="0"/>
              </a:rPr>
            </a:br>
            <a:br>
              <a:rPr lang="en-CA" sz="3000" b="1" dirty="0">
                <a:latin typeface="Verdana" panose="020B0604030504040204" pitchFamily="34" charset="0"/>
                <a:ea typeface="Verdana" panose="020B0604030504040204" pitchFamily="34" charset="0"/>
              </a:rPr>
            </a:br>
            <a:br>
              <a:rPr lang="en-CA" sz="2800" dirty="0">
                <a:solidFill>
                  <a:srgbClr val="000000"/>
                </a:solidFill>
                <a:latin typeface="Verdana"/>
                <a:ea typeface="Verdana"/>
              </a:rPr>
            </a:br>
            <a:r>
              <a:rPr lang="en-CA" sz="2800" b="1" dirty="0">
                <a:solidFill>
                  <a:srgbClr val="FFFFFF"/>
                </a:solidFill>
                <a:latin typeface="Verdana"/>
                <a:ea typeface="Verdana"/>
              </a:rPr>
              <a:t>April 30- May 2</a:t>
            </a:r>
            <a:r>
              <a:rPr lang="en-CA" sz="3000" b="1" dirty="0">
                <a:solidFill>
                  <a:srgbClr val="FFFFFF"/>
                </a:solidFill>
                <a:latin typeface="Verdana"/>
                <a:ea typeface="Verdana"/>
              </a:rPr>
              <a:t>, 2026</a:t>
            </a:r>
            <a:br>
              <a:rPr lang="en-CA" sz="3000" b="1" dirty="0"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CA" sz="3000" b="1" dirty="0">
                <a:solidFill>
                  <a:srgbClr val="FFFFFF"/>
                </a:solidFill>
                <a:latin typeface="Verdana"/>
                <a:ea typeface="Verdana"/>
              </a:rPr>
              <a:t>Brock University</a:t>
            </a:r>
            <a:br>
              <a:rPr lang="en-CA" sz="3000" b="1" dirty="0">
                <a:latin typeface="Verdana" panose="020B0604030504040204" pitchFamily="34" charset="0"/>
                <a:ea typeface="Verdana" panose="020B0604030504040204" pitchFamily="34" charset="0"/>
              </a:rPr>
            </a:br>
            <a:br>
              <a:rPr lang="en-CA" sz="3000" b="1" dirty="0"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200" b="1" dirty="0">
                <a:solidFill>
                  <a:srgbClr val="FFFFFF"/>
                </a:solidFill>
                <a:latin typeface="Verdana"/>
                <a:ea typeface="Verdana"/>
              </a:rPr>
              <a:t>Coexisting with nature: life in the Niagara escarpment biosphere</a:t>
            </a:r>
            <a:endParaRPr lang="en-CA" sz="3000" b="1" dirty="0">
              <a:solidFill>
                <a:srgbClr val="FFFFFF"/>
              </a:solidFill>
              <a:latin typeface="Verdana"/>
              <a:ea typeface="Verdana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E08AF74-572B-FCF8-5105-1365A66A623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89" r="4889"/>
          <a:stretch/>
        </p:blipFill>
        <p:spPr>
          <a:xfrm>
            <a:off x="5035056" y="4533661"/>
            <a:ext cx="2133050" cy="1865533"/>
          </a:xfrm>
          <a:prstGeom prst="rect">
            <a:avLst/>
          </a:prstGeom>
        </p:spPr>
      </p:pic>
      <p:pic>
        <p:nvPicPr>
          <p:cNvPr id="5" name="Picture 4" descr="A building with a parking lot and a parking lot&#10;&#10;AI-generated content may be incorrect.">
            <a:extLst>
              <a:ext uri="{FF2B5EF4-FFF2-40B4-BE49-F238E27FC236}">
                <a16:creationId xmlns:a16="http://schemas.microsoft.com/office/drawing/2014/main" id="{CA224B46-CD1F-A774-3992-883B971DB5C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43" r="11260" b="-7"/>
          <a:stretch/>
        </p:blipFill>
        <p:spPr>
          <a:xfrm>
            <a:off x="7318437" y="4535267"/>
            <a:ext cx="2136433" cy="1865533"/>
          </a:xfrm>
          <a:prstGeom prst="rect">
            <a:avLst/>
          </a:prstGeom>
        </p:spPr>
      </p:pic>
      <p:pic>
        <p:nvPicPr>
          <p:cNvPr id="11" name="Picture 10" descr="A auditorium with red seats&#10;&#10;AI-generated content may be incorrect.">
            <a:extLst>
              <a:ext uri="{FF2B5EF4-FFF2-40B4-BE49-F238E27FC236}">
                <a16:creationId xmlns:a16="http://schemas.microsoft.com/office/drawing/2014/main" id="{DA767D87-0752-3339-5DF2-56961FB1499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476" r="8467"/>
          <a:stretch/>
        </p:blipFill>
        <p:spPr>
          <a:xfrm>
            <a:off x="9609170" y="4535267"/>
            <a:ext cx="2125631" cy="1865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80858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D324968-014E-A564-8A1C-06CBDD723A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low angle view of a building&#10;&#10;AI-generated content may be incorrect.">
            <a:extLst>
              <a:ext uri="{FF2B5EF4-FFF2-40B4-BE49-F238E27FC236}">
                <a16:creationId xmlns:a16="http://schemas.microsoft.com/office/drawing/2014/main" id="{6803342C-B954-89A5-9313-74F5CC45316D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731" b="1291"/>
          <a:stretch/>
        </p:blipFill>
        <p:spPr>
          <a:xfrm>
            <a:off x="-8" y="-4"/>
            <a:ext cx="12192000" cy="685595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BB4746B-A4CE-56CE-1C2D-EA1B8BE419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25688" y="4019494"/>
            <a:ext cx="5593977" cy="1363215"/>
          </a:xfrm>
        </p:spPr>
        <p:txBody>
          <a:bodyPr anchor="t">
            <a:normAutofit fontScale="90000"/>
          </a:bodyPr>
          <a:lstStyle/>
          <a:p>
            <a:r>
              <a:rPr lang="en-CA" b="1" dirty="0">
                <a:latin typeface="Verdana"/>
                <a:ea typeface="Verdana"/>
              </a:rPr>
              <a:t>OE3C 2026</a:t>
            </a:r>
            <a:br>
              <a:rPr lang="en-CA" sz="2800" b="1" dirty="0">
                <a:latin typeface="Verdana" panose="020B0604030504040204" pitchFamily="34" charset="0"/>
                <a:ea typeface="Verdana" panose="020B0604030504040204" pitchFamily="34" charset="0"/>
              </a:rPr>
            </a:br>
            <a:br>
              <a:rPr lang="en-CA" sz="2800" b="1" dirty="0"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CA" sz="2800" b="1" dirty="0">
                <a:latin typeface="Verdana"/>
                <a:ea typeface="Verdana"/>
              </a:rPr>
              <a:t>April 30- May 2, 2026</a:t>
            </a:r>
            <a:br>
              <a:rPr lang="en-CA" sz="2800" b="1" dirty="0"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CA" sz="2800" b="1" dirty="0">
                <a:latin typeface="Verdana"/>
                <a:ea typeface="Verdana"/>
              </a:rPr>
              <a:t>Brock University</a:t>
            </a:r>
            <a:br>
              <a:rPr lang="en-CA" sz="2800" b="1" dirty="0">
                <a:latin typeface="Verdana" panose="020B0604030504040204" pitchFamily="34" charset="0"/>
                <a:ea typeface="Verdana" panose="020B0604030504040204" pitchFamily="34" charset="0"/>
              </a:rPr>
            </a:br>
            <a:br>
              <a:rPr lang="en-CA" sz="2800" b="1" dirty="0"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200" b="1" dirty="0">
                <a:solidFill>
                  <a:srgbClr val="FFFFFF"/>
                </a:solidFill>
                <a:latin typeface="Verdana"/>
                <a:ea typeface="Verdana"/>
              </a:rPr>
              <a:t>Coexisting with nature: life in the Niagara escarpment biosphere</a:t>
            </a:r>
            <a:endParaRPr lang="en-CA" sz="2800" b="1" dirty="0">
              <a:latin typeface="Verdana"/>
              <a:ea typeface="Verdana"/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F6E384F5-137A-40B1-97F0-694CC6ECD5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122218"/>
            <a:ext cx="3730752" cy="4735782"/>
          </a:xfrm>
          <a:custGeom>
            <a:avLst/>
            <a:gdLst>
              <a:gd name="connsiteX0" fmla="*/ 640080 w 3730752"/>
              <a:gd name="connsiteY0" fmla="*/ 0 h 4735782"/>
              <a:gd name="connsiteX1" fmla="*/ 3730752 w 3730752"/>
              <a:gd name="connsiteY1" fmla="*/ 3090672 h 4735782"/>
              <a:gd name="connsiteX2" fmla="*/ 3357725 w 3730752"/>
              <a:gd name="connsiteY2" fmla="*/ 4563870 h 4735782"/>
              <a:gd name="connsiteX3" fmla="*/ 3253285 w 3730752"/>
              <a:gd name="connsiteY3" fmla="*/ 4735782 h 4735782"/>
              <a:gd name="connsiteX4" fmla="*/ 0 w 3730752"/>
              <a:gd name="connsiteY4" fmla="*/ 4735782 h 4735782"/>
              <a:gd name="connsiteX5" fmla="*/ 0 w 3730752"/>
              <a:gd name="connsiteY5" fmla="*/ 67215 h 4735782"/>
              <a:gd name="connsiteX6" fmla="*/ 17202 w 3730752"/>
              <a:gd name="connsiteY6" fmla="*/ 62792 h 4735782"/>
              <a:gd name="connsiteX7" fmla="*/ 640080 w 3730752"/>
              <a:gd name="connsiteY7" fmla="*/ 0 h 47357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730752" h="4735782">
                <a:moveTo>
                  <a:pt x="640080" y="0"/>
                </a:moveTo>
                <a:cubicBezTo>
                  <a:pt x="2347011" y="0"/>
                  <a:pt x="3730752" y="1383741"/>
                  <a:pt x="3730752" y="3090672"/>
                </a:cubicBezTo>
                <a:cubicBezTo>
                  <a:pt x="3730752" y="3624088"/>
                  <a:pt x="3595621" y="4125943"/>
                  <a:pt x="3357725" y="4563870"/>
                </a:cubicBezTo>
                <a:lnTo>
                  <a:pt x="3253285" y="4735782"/>
                </a:lnTo>
                <a:lnTo>
                  <a:pt x="0" y="4735782"/>
                </a:lnTo>
                <a:lnTo>
                  <a:pt x="0" y="67215"/>
                </a:lnTo>
                <a:lnTo>
                  <a:pt x="17202" y="62792"/>
                </a:lnTo>
                <a:cubicBezTo>
                  <a:pt x="218397" y="21621"/>
                  <a:pt x="426714" y="0"/>
                  <a:pt x="640080" y="0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9DBC4630-03DA-474F-BBCB-BA3AE6B317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1982" y="-4332"/>
            <a:ext cx="4242816" cy="2454158"/>
          </a:xfrm>
          <a:custGeom>
            <a:avLst/>
            <a:gdLst>
              <a:gd name="connsiteX0" fmla="*/ 28633 w 4242816"/>
              <a:gd name="connsiteY0" fmla="*/ 0 h 2454158"/>
              <a:gd name="connsiteX1" fmla="*/ 4214183 w 4242816"/>
              <a:gd name="connsiteY1" fmla="*/ 0 h 2454158"/>
              <a:gd name="connsiteX2" fmla="*/ 4231864 w 4242816"/>
              <a:gd name="connsiteY2" fmla="*/ 115848 h 2454158"/>
              <a:gd name="connsiteX3" fmla="*/ 4242816 w 4242816"/>
              <a:gd name="connsiteY3" fmla="*/ 332750 h 2454158"/>
              <a:gd name="connsiteX4" fmla="*/ 2121408 w 4242816"/>
              <a:gd name="connsiteY4" fmla="*/ 2454158 h 2454158"/>
              <a:gd name="connsiteX5" fmla="*/ 0 w 4242816"/>
              <a:gd name="connsiteY5" fmla="*/ 332750 h 2454158"/>
              <a:gd name="connsiteX6" fmla="*/ 10953 w 4242816"/>
              <a:gd name="connsiteY6" fmla="*/ 115848 h 24541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242816" h="2454158">
                <a:moveTo>
                  <a:pt x="28633" y="0"/>
                </a:moveTo>
                <a:lnTo>
                  <a:pt x="4214183" y="0"/>
                </a:lnTo>
                <a:lnTo>
                  <a:pt x="4231864" y="115848"/>
                </a:lnTo>
                <a:cubicBezTo>
                  <a:pt x="4239106" y="187164"/>
                  <a:pt x="4242816" y="259524"/>
                  <a:pt x="4242816" y="332750"/>
                </a:cubicBezTo>
                <a:cubicBezTo>
                  <a:pt x="4242816" y="1504371"/>
                  <a:pt x="3293029" y="2454158"/>
                  <a:pt x="2121408" y="2454158"/>
                </a:cubicBezTo>
                <a:cubicBezTo>
                  <a:pt x="949787" y="2454158"/>
                  <a:pt x="0" y="1504371"/>
                  <a:pt x="0" y="332750"/>
                </a:cubicBezTo>
                <a:cubicBezTo>
                  <a:pt x="0" y="259524"/>
                  <a:pt x="3710" y="187164"/>
                  <a:pt x="10953" y="115848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 descr="A building with a parking lot and a parking lot&#10;&#10;AI-generated content may be incorrect.">
            <a:extLst>
              <a:ext uri="{FF2B5EF4-FFF2-40B4-BE49-F238E27FC236}">
                <a16:creationId xmlns:a16="http://schemas.microsoft.com/office/drawing/2014/main" id="{F964EEB2-7B48-B627-539A-D5D3D13C79C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352" r="-1" b="2792"/>
          <a:stretch/>
        </p:blipFill>
        <p:spPr>
          <a:xfrm>
            <a:off x="1246573" y="10"/>
            <a:ext cx="3913632" cy="2285224"/>
          </a:xfrm>
          <a:custGeom>
            <a:avLst/>
            <a:gdLst/>
            <a:ahLst/>
            <a:cxnLst/>
            <a:rect l="l" t="t" r="r" b="b"/>
            <a:pathLst>
              <a:path w="3913632" h="2285234">
                <a:moveTo>
                  <a:pt x="29691" y="0"/>
                </a:moveTo>
                <a:lnTo>
                  <a:pt x="3883942" y="0"/>
                </a:lnTo>
                <a:lnTo>
                  <a:pt x="3903529" y="128345"/>
                </a:lnTo>
                <a:cubicBezTo>
                  <a:pt x="3910210" y="194127"/>
                  <a:pt x="3913632" y="260873"/>
                  <a:pt x="3913632" y="328418"/>
                </a:cubicBezTo>
                <a:cubicBezTo>
                  <a:pt x="3913632" y="1409138"/>
                  <a:pt x="3037536" y="2285234"/>
                  <a:pt x="1956816" y="2285234"/>
                </a:cubicBezTo>
                <a:cubicBezTo>
                  <a:pt x="876096" y="2285234"/>
                  <a:pt x="0" y="1409138"/>
                  <a:pt x="0" y="328418"/>
                </a:cubicBezTo>
                <a:cubicBezTo>
                  <a:pt x="0" y="260873"/>
                  <a:pt x="3422" y="194127"/>
                  <a:pt x="10103" y="128345"/>
                </a:cubicBezTo>
                <a:close/>
              </a:path>
            </a:pathLst>
          </a:cu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779B3E2-FB5D-431A-59BB-9F3F7036E73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412" r="16963"/>
          <a:stretch/>
        </p:blipFill>
        <p:spPr>
          <a:xfrm>
            <a:off x="20" y="2288331"/>
            <a:ext cx="3564618" cy="4569668"/>
          </a:xfrm>
          <a:custGeom>
            <a:avLst/>
            <a:gdLst/>
            <a:ahLst/>
            <a:cxnLst/>
            <a:rect l="l" t="t" r="r" b="b"/>
            <a:pathLst>
              <a:path w="3564638" h="4569668">
                <a:moveTo>
                  <a:pt x="640080" y="0"/>
                </a:moveTo>
                <a:cubicBezTo>
                  <a:pt x="2255269" y="0"/>
                  <a:pt x="3564638" y="1309369"/>
                  <a:pt x="3564638" y="2924558"/>
                </a:cubicBezTo>
                <a:cubicBezTo>
                  <a:pt x="3564638" y="3530254"/>
                  <a:pt x="3380508" y="4092944"/>
                  <a:pt x="3065170" y="4559707"/>
                </a:cubicBezTo>
                <a:lnTo>
                  <a:pt x="3057720" y="4569668"/>
                </a:lnTo>
                <a:lnTo>
                  <a:pt x="0" y="4569668"/>
                </a:lnTo>
                <a:lnTo>
                  <a:pt x="0" y="72448"/>
                </a:lnTo>
                <a:lnTo>
                  <a:pt x="50679" y="59417"/>
                </a:lnTo>
                <a:cubicBezTo>
                  <a:pt x="241061" y="20459"/>
                  <a:pt x="438181" y="0"/>
                  <a:pt x="640080" y="0"/>
                </a:cubicBezTo>
                <a:close/>
              </a:path>
            </a:pathLst>
          </a:custGeom>
        </p:spPr>
      </p:pic>
      <p:sp>
        <p:nvSpPr>
          <p:cNvPr id="24" name="Oval 23">
            <a:extLst>
              <a:ext uri="{FF2B5EF4-FFF2-40B4-BE49-F238E27FC236}">
                <a16:creationId xmlns:a16="http://schemas.microsoft.com/office/drawing/2014/main" id="{78418A25-6EAC-4140-BFE6-284E1925B5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60967" y="561316"/>
            <a:ext cx="3182112" cy="3182112"/>
          </a:xfrm>
          <a:prstGeom prst="ellipse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A52810D-3BA6-D27B-CB04-49F13C03C9C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875" r="21875"/>
          <a:stretch/>
        </p:blipFill>
        <p:spPr>
          <a:xfrm>
            <a:off x="5525559" y="725908"/>
            <a:ext cx="2852928" cy="2852928"/>
          </a:xfrm>
          <a:custGeom>
            <a:avLst/>
            <a:gdLst/>
            <a:ahLst/>
            <a:cxnLst/>
            <a:rect l="l" t="t" r="r" b="b"/>
            <a:pathLst>
              <a:path w="2852928" h="2852928">
                <a:moveTo>
                  <a:pt x="1426464" y="0"/>
                </a:moveTo>
                <a:cubicBezTo>
                  <a:pt x="2214278" y="0"/>
                  <a:pt x="2852928" y="638650"/>
                  <a:pt x="2852928" y="1426464"/>
                </a:cubicBezTo>
                <a:cubicBezTo>
                  <a:pt x="2852928" y="2214278"/>
                  <a:pt x="2214278" y="2852928"/>
                  <a:pt x="1426464" y="2852928"/>
                </a:cubicBezTo>
                <a:cubicBezTo>
                  <a:pt x="638650" y="2852928"/>
                  <a:pt x="0" y="2214278"/>
                  <a:pt x="0" y="1426464"/>
                </a:cubicBezTo>
                <a:cubicBezTo>
                  <a:pt x="0" y="638650"/>
                  <a:pt x="638650" y="0"/>
                  <a:pt x="1426464" y="0"/>
                </a:cubicBezTo>
                <a:close/>
              </a:path>
            </a:pathLst>
          </a:custGeom>
        </p:spPr>
      </p:pic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6B9D64DB-4D5C-4A91-B45F-F301E3174F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52568" y="-4332"/>
            <a:ext cx="3439432" cy="3550083"/>
          </a:xfrm>
          <a:custGeom>
            <a:avLst/>
            <a:gdLst>
              <a:gd name="connsiteX0" fmla="*/ 115336 w 3439432"/>
              <a:gd name="connsiteY0" fmla="*/ 0 h 3550083"/>
              <a:gd name="connsiteX1" fmla="*/ 3439432 w 3439432"/>
              <a:gd name="connsiteY1" fmla="*/ 0 h 3550083"/>
              <a:gd name="connsiteX2" fmla="*/ 3439432 w 3439432"/>
              <a:gd name="connsiteY2" fmla="*/ 3462762 h 3550083"/>
              <a:gd name="connsiteX3" fmla="*/ 3318024 w 3439432"/>
              <a:gd name="connsiteY3" fmla="*/ 3493980 h 3550083"/>
              <a:gd name="connsiteX4" fmla="*/ 2761488 w 3439432"/>
              <a:gd name="connsiteY4" fmla="*/ 3550083 h 3550083"/>
              <a:gd name="connsiteX5" fmla="*/ 0 w 3439432"/>
              <a:gd name="connsiteY5" fmla="*/ 788595 h 3550083"/>
              <a:gd name="connsiteX6" fmla="*/ 70713 w 3439432"/>
              <a:gd name="connsiteY6" fmla="*/ 164949 h 35500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439432" h="3550083">
                <a:moveTo>
                  <a:pt x="115336" y="0"/>
                </a:moveTo>
                <a:lnTo>
                  <a:pt x="3439432" y="0"/>
                </a:lnTo>
                <a:lnTo>
                  <a:pt x="3439432" y="3462762"/>
                </a:lnTo>
                <a:lnTo>
                  <a:pt x="3318024" y="3493980"/>
                </a:lnTo>
                <a:cubicBezTo>
                  <a:pt x="3138258" y="3530765"/>
                  <a:pt x="2952129" y="3550083"/>
                  <a:pt x="2761488" y="3550083"/>
                </a:cubicBezTo>
                <a:cubicBezTo>
                  <a:pt x="1236360" y="3550083"/>
                  <a:pt x="0" y="2313723"/>
                  <a:pt x="0" y="788595"/>
                </a:cubicBezTo>
                <a:cubicBezTo>
                  <a:pt x="0" y="574124"/>
                  <a:pt x="24450" y="365364"/>
                  <a:pt x="70713" y="164949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5" name="Picture 14" descr="A bunches of grapes on a vine&#10;&#10;AI-generated content may be incorrect.">
            <a:extLst>
              <a:ext uri="{FF2B5EF4-FFF2-40B4-BE49-F238E27FC236}">
                <a16:creationId xmlns:a16="http://schemas.microsoft.com/office/drawing/2014/main" id="{17DC7E5C-A92C-B5B5-4459-416A0C4AA74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035" r="638" b="-3"/>
          <a:stretch/>
        </p:blipFill>
        <p:spPr>
          <a:xfrm>
            <a:off x="8918761" y="-4331"/>
            <a:ext cx="3273238" cy="3383891"/>
          </a:xfrm>
          <a:custGeom>
            <a:avLst/>
            <a:gdLst/>
            <a:ahLst/>
            <a:cxnLst/>
            <a:rect l="l" t="t" r="r" b="b"/>
            <a:pathLst>
              <a:path w="3273238" h="3383891">
                <a:moveTo>
                  <a:pt x="122841" y="0"/>
                </a:moveTo>
                <a:lnTo>
                  <a:pt x="3273238" y="0"/>
                </a:lnTo>
                <a:lnTo>
                  <a:pt x="3273238" y="3291335"/>
                </a:lnTo>
                <a:lnTo>
                  <a:pt x="3118338" y="3331164"/>
                </a:lnTo>
                <a:cubicBezTo>
                  <a:pt x="2949390" y="3365736"/>
                  <a:pt x="2774463" y="3383891"/>
                  <a:pt x="2595295" y="3383891"/>
                </a:cubicBezTo>
                <a:cubicBezTo>
                  <a:pt x="1161953" y="3383891"/>
                  <a:pt x="0" y="2221938"/>
                  <a:pt x="0" y="788596"/>
                </a:cubicBezTo>
                <a:cubicBezTo>
                  <a:pt x="0" y="519845"/>
                  <a:pt x="40850" y="260634"/>
                  <a:pt x="116679" y="16835"/>
                </a:cubicBezTo>
                <a:close/>
              </a:path>
            </a:pathLst>
          </a:custGeom>
        </p:spPr>
      </p:pic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CB14CE1B-4BC5-4EF2-BE3D-05E4F580B3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99331" y="3907418"/>
            <a:ext cx="2992669" cy="2950582"/>
          </a:xfrm>
          <a:custGeom>
            <a:avLst/>
            <a:gdLst>
              <a:gd name="connsiteX0" fmla="*/ 2052140 w 2992669"/>
              <a:gd name="connsiteY0" fmla="*/ 0 h 2950582"/>
              <a:gd name="connsiteX1" fmla="*/ 2850926 w 2992669"/>
              <a:gd name="connsiteY1" fmla="*/ 161267 h 2950582"/>
              <a:gd name="connsiteX2" fmla="*/ 2992669 w 2992669"/>
              <a:gd name="connsiteY2" fmla="*/ 229549 h 2950582"/>
              <a:gd name="connsiteX3" fmla="*/ 2992669 w 2992669"/>
              <a:gd name="connsiteY3" fmla="*/ 2950582 h 2950582"/>
              <a:gd name="connsiteX4" fmla="*/ 209274 w 2992669"/>
              <a:gd name="connsiteY4" fmla="*/ 2950582 h 2950582"/>
              <a:gd name="connsiteX5" fmla="*/ 161267 w 2992669"/>
              <a:gd name="connsiteY5" fmla="*/ 2850926 h 2950582"/>
              <a:gd name="connsiteX6" fmla="*/ 0 w 2992669"/>
              <a:gd name="connsiteY6" fmla="*/ 2052140 h 2950582"/>
              <a:gd name="connsiteX7" fmla="*/ 2052140 w 2992669"/>
              <a:gd name="connsiteY7" fmla="*/ 0 h 29505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92669" h="2950582">
                <a:moveTo>
                  <a:pt x="2052140" y="0"/>
                </a:moveTo>
                <a:cubicBezTo>
                  <a:pt x="2335482" y="0"/>
                  <a:pt x="2605411" y="57424"/>
                  <a:pt x="2850926" y="161267"/>
                </a:cubicBezTo>
                <a:lnTo>
                  <a:pt x="2992669" y="229549"/>
                </a:lnTo>
                <a:lnTo>
                  <a:pt x="2992669" y="2950582"/>
                </a:lnTo>
                <a:lnTo>
                  <a:pt x="209274" y="2950582"/>
                </a:lnTo>
                <a:lnTo>
                  <a:pt x="161267" y="2850926"/>
                </a:lnTo>
                <a:cubicBezTo>
                  <a:pt x="57423" y="2605411"/>
                  <a:pt x="0" y="2335482"/>
                  <a:pt x="0" y="2052140"/>
                </a:cubicBezTo>
                <a:cubicBezTo>
                  <a:pt x="0" y="918774"/>
                  <a:pt x="918774" y="0"/>
                  <a:pt x="2052140" y="0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C91428B-54D1-3D56-D6D0-BA02B8C45F7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163" r="16163"/>
          <a:stretch/>
        </p:blipFill>
        <p:spPr>
          <a:xfrm>
            <a:off x="9363238" y="4071322"/>
            <a:ext cx="2828765" cy="2786678"/>
          </a:xfrm>
          <a:custGeom>
            <a:avLst/>
            <a:gdLst/>
            <a:ahLst/>
            <a:cxnLst/>
            <a:rect l="l" t="t" r="r" b="b"/>
            <a:pathLst>
              <a:path w="2828765" h="2786678">
                <a:moveTo>
                  <a:pt x="1888236" y="0"/>
                </a:moveTo>
                <a:cubicBezTo>
                  <a:pt x="2214125" y="0"/>
                  <a:pt x="2520731" y="82558"/>
                  <a:pt x="2788281" y="227900"/>
                </a:cubicBezTo>
                <a:lnTo>
                  <a:pt x="2828765" y="252495"/>
                </a:lnTo>
                <a:lnTo>
                  <a:pt x="2828765" y="2786678"/>
                </a:lnTo>
                <a:lnTo>
                  <a:pt x="227128" y="2786678"/>
                </a:lnTo>
                <a:lnTo>
                  <a:pt x="148387" y="2623223"/>
                </a:lnTo>
                <a:cubicBezTo>
                  <a:pt x="52837" y="2397318"/>
                  <a:pt x="0" y="2148947"/>
                  <a:pt x="0" y="1888236"/>
                </a:cubicBezTo>
                <a:cubicBezTo>
                  <a:pt x="0" y="845392"/>
                  <a:pt x="845392" y="0"/>
                  <a:pt x="1888236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5145394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CAD06A-8763-D107-4F11-3A9E7423AC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auditorium with red seats&#10;&#10;AI-generated content may be incorrect.">
            <a:extLst>
              <a:ext uri="{FF2B5EF4-FFF2-40B4-BE49-F238E27FC236}">
                <a16:creationId xmlns:a16="http://schemas.microsoft.com/office/drawing/2014/main" id="{4293BDCF-B1DF-92D6-FC30-BC604FCABA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139" r="3133" b="3"/>
          <a:stretch/>
        </p:blipFill>
        <p:spPr>
          <a:xfrm>
            <a:off x="4" y="-6236"/>
            <a:ext cx="3255403" cy="2505456"/>
          </a:xfrm>
          <a:custGeom>
            <a:avLst/>
            <a:gdLst/>
            <a:ahLst/>
            <a:cxnLst/>
            <a:rect l="l" t="t" r="r" b="b"/>
            <a:pathLst>
              <a:path w="3255403" h="2505456">
                <a:moveTo>
                  <a:pt x="0" y="0"/>
                </a:moveTo>
                <a:lnTo>
                  <a:pt x="3255403" y="0"/>
                </a:lnTo>
                <a:lnTo>
                  <a:pt x="2094477" y="2505456"/>
                </a:lnTo>
                <a:lnTo>
                  <a:pt x="0" y="2505456"/>
                </a:lnTo>
                <a:close/>
              </a:path>
            </a:pathLst>
          </a:custGeom>
        </p:spPr>
      </p:pic>
      <p:pic>
        <p:nvPicPr>
          <p:cNvPr id="5" name="Picture 4" descr="A building with a parking lot and a parking lot&#10;&#10;AI-generated content may be incorrect.">
            <a:extLst>
              <a:ext uri="{FF2B5EF4-FFF2-40B4-BE49-F238E27FC236}">
                <a16:creationId xmlns:a16="http://schemas.microsoft.com/office/drawing/2014/main" id="{6B9F1864-BDF0-2011-057B-91346AB7DEB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68" r="5" b="5"/>
          <a:stretch/>
        </p:blipFill>
        <p:spPr>
          <a:xfrm>
            <a:off x="4675539" y="-6235"/>
            <a:ext cx="3677817" cy="2505456"/>
          </a:xfrm>
          <a:custGeom>
            <a:avLst/>
            <a:gdLst/>
            <a:ahLst/>
            <a:cxnLst/>
            <a:rect l="l" t="t" r="r" b="b"/>
            <a:pathLst>
              <a:path w="3677817" h="2505456">
                <a:moveTo>
                  <a:pt x="1160926" y="0"/>
                </a:moveTo>
                <a:lnTo>
                  <a:pt x="3677817" y="0"/>
                </a:lnTo>
                <a:lnTo>
                  <a:pt x="2516891" y="2505456"/>
                </a:lnTo>
                <a:lnTo>
                  <a:pt x="0" y="2505456"/>
                </a:lnTo>
                <a:close/>
              </a:path>
            </a:pathLst>
          </a:custGeom>
        </p:spPr>
      </p:pic>
      <p:pic>
        <p:nvPicPr>
          <p:cNvPr id="7" name="Picture 6" descr="A low angle view of a building&#10;&#10;AI-generated content may be incorrect.">
            <a:extLst>
              <a:ext uri="{FF2B5EF4-FFF2-40B4-BE49-F238E27FC236}">
                <a16:creationId xmlns:a16="http://schemas.microsoft.com/office/drawing/2014/main" id="{A9A07F45-F975-B6BE-8CF7-43BA1E2FCFC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546" r="-3" b="4103"/>
          <a:stretch/>
        </p:blipFill>
        <p:spPr>
          <a:xfrm>
            <a:off x="7381876" y="1"/>
            <a:ext cx="4810125" cy="2501837"/>
          </a:xfrm>
          <a:custGeom>
            <a:avLst/>
            <a:gdLst/>
            <a:ahLst/>
            <a:cxnLst/>
            <a:rect l="l" t="t" r="r" b="b"/>
            <a:pathLst>
              <a:path w="4810125" h="2501837">
                <a:moveTo>
                  <a:pt x="1159248" y="0"/>
                </a:moveTo>
                <a:lnTo>
                  <a:pt x="4810125" y="0"/>
                </a:lnTo>
                <a:lnTo>
                  <a:pt x="4810125" y="2501837"/>
                </a:lnTo>
                <a:lnTo>
                  <a:pt x="0" y="2501837"/>
                </a:lnTo>
                <a:close/>
              </a:path>
            </a:pathLst>
          </a:cu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C3F8E0B-F55F-C82A-55F6-CABE54CED85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071" r="-2" b="-2"/>
          <a:stretch/>
        </p:blipFill>
        <p:spPr>
          <a:xfrm>
            <a:off x="20" y="2658276"/>
            <a:ext cx="3770704" cy="4199724"/>
          </a:xfrm>
          <a:custGeom>
            <a:avLst/>
            <a:gdLst/>
            <a:ahLst/>
            <a:cxnLst/>
            <a:rect l="l" t="t" r="r" b="b"/>
            <a:pathLst>
              <a:path w="3770724" h="4199724">
                <a:moveTo>
                  <a:pt x="0" y="0"/>
                </a:moveTo>
                <a:lnTo>
                  <a:pt x="3770724" y="0"/>
                </a:lnTo>
                <a:lnTo>
                  <a:pt x="1824067" y="4199724"/>
                </a:lnTo>
                <a:lnTo>
                  <a:pt x="0" y="4199724"/>
                </a:lnTo>
                <a:close/>
              </a:path>
            </a:pathLst>
          </a:custGeom>
        </p:spPr>
      </p:pic>
      <p:pic>
        <p:nvPicPr>
          <p:cNvPr id="15" name="Picture 14" descr="A bunches of grapes on a vine&#10;&#10;AI-generated content may be incorrect.">
            <a:extLst>
              <a:ext uri="{FF2B5EF4-FFF2-40B4-BE49-F238E27FC236}">
                <a16:creationId xmlns:a16="http://schemas.microsoft.com/office/drawing/2014/main" id="{0B9A058C-EE5D-8E59-8701-1BC59C35B9D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071" r="2" b="2"/>
          <a:stretch/>
        </p:blipFill>
        <p:spPr>
          <a:xfrm>
            <a:off x="2013796" y="2661900"/>
            <a:ext cx="5108726" cy="4197911"/>
          </a:xfrm>
          <a:custGeom>
            <a:avLst/>
            <a:gdLst/>
            <a:ahLst/>
            <a:cxnLst/>
            <a:rect l="l" t="t" r="r" b="b"/>
            <a:pathLst>
              <a:path w="5108726" h="4197911">
                <a:moveTo>
                  <a:pt x="1945141" y="0"/>
                </a:moveTo>
                <a:lnTo>
                  <a:pt x="5108726" y="0"/>
                </a:lnTo>
                <a:lnTo>
                  <a:pt x="3163585" y="4197911"/>
                </a:lnTo>
                <a:lnTo>
                  <a:pt x="3157362" y="4197911"/>
                </a:lnTo>
                <a:lnTo>
                  <a:pt x="1967571" y="4197911"/>
                </a:lnTo>
                <a:lnTo>
                  <a:pt x="317526" y="4197911"/>
                </a:lnTo>
                <a:lnTo>
                  <a:pt x="0" y="4197911"/>
                </a:lnTo>
                <a:close/>
              </a:path>
            </a:pathLst>
          </a:custGeom>
        </p:spPr>
      </p:pic>
      <p:sp>
        <p:nvSpPr>
          <p:cNvPr id="20" name="Freeform 43">
            <a:extLst>
              <a:ext uri="{FF2B5EF4-FFF2-40B4-BE49-F238E27FC236}">
                <a16:creationId xmlns:a16="http://schemas.microsoft.com/office/drawing/2014/main" id="{AAD8F19F-4A55-467B-BED0-8837659A90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353050" y="2660089"/>
            <a:ext cx="6838950" cy="4197911"/>
          </a:xfrm>
          <a:custGeom>
            <a:avLst/>
            <a:gdLst>
              <a:gd name="connsiteX0" fmla="*/ 4893809 w 6838950"/>
              <a:gd name="connsiteY0" fmla="*/ 0 h 4197911"/>
              <a:gd name="connsiteX1" fmla="*/ 4887586 w 6838950"/>
              <a:gd name="connsiteY1" fmla="*/ 0 h 4197911"/>
              <a:gd name="connsiteX2" fmla="*/ 3697795 w 6838950"/>
              <a:gd name="connsiteY2" fmla="*/ 0 h 4197911"/>
              <a:gd name="connsiteX3" fmla="*/ 2047750 w 6838950"/>
              <a:gd name="connsiteY3" fmla="*/ 0 h 4197911"/>
              <a:gd name="connsiteX4" fmla="*/ 0 w 6838950"/>
              <a:gd name="connsiteY4" fmla="*/ 0 h 4197911"/>
              <a:gd name="connsiteX5" fmla="*/ 0 w 6838950"/>
              <a:gd name="connsiteY5" fmla="*/ 4197911 h 4197911"/>
              <a:gd name="connsiteX6" fmla="*/ 6838950 w 6838950"/>
              <a:gd name="connsiteY6" fmla="*/ 4197911 h 4197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38950" h="4197911">
                <a:moveTo>
                  <a:pt x="4893809" y="0"/>
                </a:moveTo>
                <a:lnTo>
                  <a:pt x="4887586" y="0"/>
                </a:lnTo>
                <a:lnTo>
                  <a:pt x="3697795" y="0"/>
                </a:lnTo>
                <a:lnTo>
                  <a:pt x="2047750" y="0"/>
                </a:lnTo>
                <a:lnTo>
                  <a:pt x="0" y="0"/>
                </a:lnTo>
                <a:lnTo>
                  <a:pt x="0" y="4197911"/>
                </a:lnTo>
                <a:lnTo>
                  <a:pt x="6838950" y="4197911"/>
                </a:lnTo>
                <a:close/>
              </a:path>
            </a:pathLst>
          </a:custGeom>
          <a:solidFill>
            <a:srgbClr val="475A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A8BD35-C6BD-4DEB-8514-C6CBC1EBE9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16799" y="2817512"/>
            <a:ext cx="5375445" cy="2163872"/>
          </a:xfrm>
        </p:spPr>
        <p:txBody>
          <a:bodyPr anchor="t">
            <a:normAutofit fontScale="90000"/>
          </a:bodyPr>
          <a:lstStyle/>
          <a:p>
            <a:pPr algn="r"/>
            <a:r>
              <a:rPr lang="en-CA" sz="6600" b="1" dirty="0">
                <a:solidFill>
                  <a:srgbClr val="FFFFFF"/>
                </a:solidFill>
                <a:latin typeface="Verdana"/>
                <a:ea typeface="Verdana"/>
              </a:rPr>
              <a:t>OE3C 2026</a:t>
            </a:r>
            <a:br>
              <a:rPr lang="en-CA" sz="3800" b="1" dirty="0">
                <a:latin typeface="Verdana" panose="020B0604030504040204" pitchFamily="34" charset="0"/>
                <a:ea typeface="Verdana" panose="020B0604030504040204" pitchFamily="34" charset="0"/>
              </a:rPr>
            </a:br>
            <a:br>
              <a:rPr lang="en-CA" sz="2800" dirty="0"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CA" sz="3400" b="1" dirty="0">
                <a:solidFill>
                  <a:srgbClr val="FFFFFF"/>
                </a:solidFill>
                <a:latin typeface="Verdana"/>
                <a:ea typeface="Verdana"/>
              </a:rPr>
              <a:t>April 30- May 2</a:t>
            </a:r>
            <a:r>
              <a:rPr lang="en-CA" sz="3800" b="1" dirty="0">
                <a:solidFill>
                  <a:srgbClr val="FFFFFF"/>
                </a:solidFill>
                <a:latin typeface="Verdana"/>
                <a:ea typeface="Verdana"/>
              </a:rPr>
              <a:t>, 2026</a:t>
            </a:r>
            <a:br>
              <a:rPr lang="en-CA" sz="3800" b="1" dirty="0"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CA" sz="3800" b="1" dirty="0">
                <a:solidFill>
                  <a:srgbClr val="FFFFFF"/>
                </a:solidFill>
                <a:latin typeface="Verdana"/>
                <a:ea typeface="Verdana"/>
              </a:rPr>
              <a:t>Brock University</a:t>
            </a:r>
            <a:br>
              <a:rPr lang="en-CA" sz="3800" b="1" dirty="0">
                <a:latin typeface="Verdana" panose="020B0604030504040204" pitchFamily="34" charset="0"/>
                <a:ea typeface="Verdana" panose="020B0604030504040204" pitchFamily="34" charset="0"/>
              </a:rPr>
            </a:br>
            <a:br>
              <a:rPr lang="en-CA" sz="3800" b="1" dirty="0"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3100" b="1" dirty="0">
                <a:solidFill>
                  <a:srgbClr val="FFFFFF"/>
                </a:solidFill>
                <a:latin typeface="Verdana"/>
                <a:ea typeface="Verdana"/>
              </a:rPr>
              <a:t>Coexisting with nature: life in the Niagara escarpment biosphere</a:t>
            </a:r>
            <a:endParaRPr lang="en-CA" sz="3800" b="1" dirty="0">
              <a:solidFill>
                <a:srgbClr val="FFFFFF"/>
              </a:solidFill>
              <a:latin typeface="Verdana"/>
              <a:ea typeface="Verdana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AAAC2CC-2A7A-6F14-B876-67BE366825D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594" r="13131" b="2"/>
          <a:stretch/>
        </p:blipFill>
        <p:spPr>
          <a:xfrm>
            <a:off x="2261968" y="1"/>
            <a:ext cx="3393943" cy="2502843"/>
          </a:xfrm>
          <a:custGeom>
            <a:avLst/>
            <a:gdLst/>
            <a:ahLst/>
            <a:cxnLst/>
            <a:rect l="l" t="t" r="r" b="b"/>
            <a:pathLst>
              <a:path w="3393943" h="2502843">
                <a:moveTo>
                  <a:pt x="1159715" y="0"/>
                </a:moveTo>
                <a:lnTo>
                  <a:pt x="3393943" y="0"/>
                </a:lnTo>
                <a:lnTo>
                  <a:pt x="2234228" y="2502843"/>
                </a:lnTo>
                <a:lnTo>
                  <a:pt x="0" y="2502843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4908770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4B94294CB887F42BEEB8F68FE8A24CE" ma:contentTypeVersion="13" ma:contentTypeDescription="Create a new document." ma:contentTypeScope="" ma:versionID="a8ca079e182ddfc12ee31dc9cb9b7f46">
  <xsd:schema xmlns:xsd="http://www.w3.org/2001/XMLSchema" xmlns:xs="http://www.w3.org/2001/XMLSchema" xmlns:p="http://schemas.microsoft.com/office/2006/metadata/properties" xmlns:ns2="4f66800e-b8c8-4f1d-9966-46ed6851c537" xmlns:ns3="ac658da9-eddc-40b3-a3e4-f4ed2eb4c2ea" targetNamespace="http://schemas.microsoft.com/office/2006/metadata/properties" ma:root="true" ma:fieldsID="1bd2490ebfad810c670ff89d61b25ee3" ns2:_="" ns3:_="">
    <xsd:import namespace="4f66800e-b8c8-4f1d-9966-46ed6851c537"/>
    <xsd:import namespace="ac658da9-eddc-40b3-a3e4-f4ed2eb4c2e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Logo" minOccurs="0"/>
                <xsd:element ref="ns2:MediaServiceOCR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f66800e-b8c8-4f1d-9966-46ed6851c53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2" nillable="true" ma:taxonomy="true" ma:internalName="lcf76f155ced4ddcb4097134ff3c332f" ma:taxonomyFieldName="MediaServiceImageTags" ma:displayName="Image Tags" ma:readOnly="false" ma:fieldId="{5cf76f15-5ced-4ddc-b409-7134ff3c332f}" ma:taxonomyMulti="true" ma:sspId="08d44918-0402-4173-a38e-4345c47fbb3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7" nillable="true" ma:displayName="Location" ma:indexed="true" ma:internalName="MediaServiceLocation" ma:readOnly="true">
      <xsd:simpleType>
        <xsd:restriction base="dms:Text"/>
      </xsd:simpleType>
    </xsd:element>
    <xsd:element name="Logo" ma:index="18" nillable="true" ma:displayName="Logo " ma:format="Dropdown" ma:internalName="Logo">
      <xsd:simpleType>
        <xsd:restriction base="dms:Text">
          <xsd:maxLength value="255"/>
        </xsd:restriction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c658da9-eddc-40b3-a3e4-f4ed2eb4c2ea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25c88de9-26ca-44be-82ce-33109b6030b3}" ma:internalName="TaxCatchAll" ma:showField="CatchAllData" ma:web="ac658da9-eddc-40b3-a3e4-f4ed2eb4c2e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f66800e-b8c8-4f1d-9966-46ed6851c537">
      <Terms xmlns="http://schemas.microsoft.com/office/infopath/2007/PartnerControls"/>
    </lcf76f155ced4ddcb4097134ff3c332f>
    <TaxCatchAll xmlns="ac658da9-eddc-40b3-a3e4-f4ed2eb4c2ea" xsi:nil="true"/>
    <Logo xmlns="4f66800e-b8c8-4f1d-9966-46ed6851c537" xsi:nil="true"/>
  </documentManagement>
</p:properties>
</file>

<file path=customXml/itemProps1.xml><?xml version="1.0" encoding="utf-8"?>
<ds:datastoreItem xmlns:ds="http://schemas.openxmlformats.org/officeDocument/2006/customXml" ds:itemID="{93BE5EC7-047A-4F45-B57B-645296CEC42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2DB69B6-99BB-4159-B871-5A9DD2D55F61}"/>
</file>

<file path=customXml/itemProps3.xml><?xml version="1.0" encoding="utf-8"?>
<ds:datastoreItem xmlns:ds="http://schemas.openxmlformats.org/officeDocument/2006/customXml" ds:itemID="{56DEBC60-8ED1-4925-8924-981B036AA3E5}">
  <ds:schemaRefs>
    <ds:schemaRef ds:uri="http://schemas.microsoft.com/office/2006/metadata/properties"/>
    <ds:schemaRef ds:uri="http://schemas.microsoft.com/office/infopath/2007/PartnerControls"/>
    <ds:schemaRef ds:uri="4f66800e-b8c8-4f1d-9966-46ed6851c537"/>
    <ds:schemaRef ds:uri="ac658da9-eddc-40b3-a3e4-f4ed2eb4c2e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384</Words>
  <Application>Microsoft Office PowerPoint</Application>
  <PresentationFormat>Widescreen</PresentationFormat>
  <Paragraphs>24</Paragraphs>
  <Slides>3</Slides>
  <Notes>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Office Theme</vt:lpstr>
      <vt:lpstr>OE3C 2026   April 30- May 2, 2026 Brock University  Coexisting with nature: life in the Niagara escarpment biosphere</vt:lpstr>
      <vt:lpstr>OE3C 2026  April 30- May 2, 2026 Brock University  Coexisting with nature: life in the Niagara escarpment biosphere</vt:lpstr>
      <vt:lpstr>OE3C 2026  April 30- May 2, 2026 Brock University  Coexisting with nature: life in the Niagara escarpment biosphere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Kiyoko Gotanda</dc:creator>
  <cp:lastModifiedBy>Kiyoko Gotanda</cp:lastModifiedBy>
  <cp:revision>18</cp:revision>
  <dcterms:created xsi:type="dcterms:W3CDTF">2025-05-03T18:23:32Z</dcterms:created>
  <dcterms:modified xsi:type="dcterms:W3CDTF">2025-10-10T18:19:42Z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0x01010044B94294CB887F42BEEB8F68FE8A24CE</vt:lpwstr>
  </property>
  <property fmtid="{D5CDD505-2E9C-101B-9397-08002B2CF9AE}" pid="3" name="MediaServiceImageTags">
    <vt:lpwstr/>
  </property>
</Properties>
</file>
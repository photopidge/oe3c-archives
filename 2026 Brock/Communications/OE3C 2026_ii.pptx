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4660"/>
  </p:normalViewPr>
  <p:slideViewPr>
    <p:cSldViewPr snapToGrid="0">
      <p:cViewPr>
        <p:scale>
          <a:sx n="71" d="100"/>
          <a:sy n="71" d="100"/>
        </p:scale>
        <p:origin x="66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4A8D8-09AC-39F2-1A71-DC841F9A69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354CEB-BF97-CDDD-A2DB-D526EA8660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5BCAD-09A0-F125-2603-1538E77C7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2025-05-03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0435C-7BF2-9D1C-3E9F-EE24E6D74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CF49E-5520-B443-CAF5-F64D44701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5134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4C7ED-AEAB-6BF5-277C-AC2A902FC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63613-9A81-F397-D9BD-7655049DF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FAC91-52B0-2C96-CDAF-F6C397610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2025-05-03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1F962-3CAC-2D66-CFDB-0847FB877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BEB2E-71BC-C8FE-14FA-F726F030B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561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6F834-7E6A-AED8-3975-DE8DB47DF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9F54F-241F-87AF-5186-BFA77C469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2D3AE-AD73-DAD6-664D-EB79D3A38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2025-05-03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9BC40-D4B6-FE1A-C55C-ABF711D7B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BD7FB-D647-FC7A-A609-03AED50EA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3975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9CD02-7007-D3E5-BD8F-D3F372700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6AAB3-D3CD-3F9A-265D-BFCD140A1A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6F9E5D-597F-C645-51CA-C9F508FEA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51225-C9AC-A01A-18A2-16EC04B2E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2025-05-03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9C1EE-330A-7ED0-5BEE-293D2A1CC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3A3F-8803-F8C7-0442-67EB20873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9215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8F222-1B8E-110E-E1A7-851DA20FC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41E83-F85A-C4BA-1692-3F8221A86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4A0755-EF80-6BAD-055A-98D1910E7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0D0E64-DA39-E368-F5DD-504B3AED7C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0AA3AF-0B1E-4582-D643-4595147C7E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1C655B-A2F1-8CF3-2BC7-DA3680FD0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2025-05-03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F97212-3190-3829-8A7C-C91680DBB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7CFB7A-E8BE-BB2E-77A5-376DA783B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6801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9E618-BB6A-3825-5F31-612F30ACD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C80527-A10E-F414-3A0F-3ECED9816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2025-05-03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68A30A-AC9A-674A-0DDB-7C012FE18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6AB513-A0FC-35D8-7518-3499B43D2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8558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220F4F-D095-B521-2AA8-59F9E81A4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2025-05-03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C76553-E07B-6880-E8C3-1041AD782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B731B-B051-D1B6-59FB-4E7F2F83C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3800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36A84-0736-B59F-5041-4D24A48DD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F253B-F241-ECA5-8082-CB064106F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ED6EA-E359-6322-AA27-3B9AD57F7C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FF7240-7007-EF8A-8139-EC449DF55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2025-05-03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563ED-6FAA-5B0C-9D54-82966C1A0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01456-A51E-55D2-F50B-07FBBCE8E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2741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2DCB8-5F36-217C-64A2-3FAEB902E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1045E3-8090-2D29-3BD8-BF8FEC8564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3071E2-478B-5D7D-396F-E3046206B5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97828-A50D-BF85-C5FE-2F18904D8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2025-05-03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94546F-3FC8-6A29-7C16-A3783E84C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E02EA-C314-B89F-8EBD-F9861DBD8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3761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C613B-9FB7-F335-C722-21388F042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5A767-5DAD-7103-B939-04686502AA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6AC82-E46A-B133-4B3D-07B8D3984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2025-05-03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B980C-BEC2-E46F-288D-96B78F5C9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B7C57-6857-31D5-5441-805FFB933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5663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BD799F-77EC-976A-70EC-3BEFB6D670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C2BFC4-DEC7-8979-264A-F86468C8C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5A878-DC9C-6E4F-D430-CCE736489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2025-05-03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AA6E8-DABA-4654-9CA3-C4FF00403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D5BEA-2979-D89C-E029-173CA8959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7817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0DF34F-746F-61FE-8048-9E01CBD7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550E6-A3AA-4073-AEC9-C3188D65C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0EC59-13EA-9959-570A-90C96066D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3AC035-DC31-44B9-A4A5-5E84107C003D}" type="datetimeFigureOut">
              <a:rPr lang="en-CA" smtClean="0"/>
              <a:t>2025-05-03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93666-C7B0-285F-F27C-3E2A1DF67B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AF131-E19E-2851-DA73-7B2D5B24B9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7513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3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ow angle view of a building&#10;&#10;AI-generated content may be incorrect.">
            <a:extLst>
              <a:ext uri="{FF2B5EF4-FFF2-40B4-BE49-F238E27FC236}">
                <a16:creationId xmlns:a16="http://schemas.microsoft.com/office/drawing/2014/main" id="{D4D33BFB-D9B2-1A4C-C039-B3229FD7F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68" r="-1" b="10628"/>
          <a:stretch/>
        </p:blipFill>
        <p:spPr>
          <a:xfrm>
            <a:off x="462343" y="453918"/>
            <a:ext cx="4425623" cy="1868815"/>
          </a:xfrm>
          <a:prstGeom prst="rect">
            <a:avLst/>
          </a:prstGeom>
        </p:spPr>
      </p:pic>
      <p:pic>
        <p:nvPicPr>
          <p:cNvPr id="15" name="Picture 14" descr="A bunches of grapes on a vine&#10;&#10;AI-generated content may be incorrect.">
            <a:extLst>
              <a:ext uri="{FF2B5EF4-FFF2-40B4-BE49-F238E27FC236}">
                <a16:creationId xmlns:a16="http://schemas.microsoft.com/office/drawing/2014/main" id="{068D7E20-EFE1-D232-8399-3B3FBBCB8D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88" r="-1" b="-1"/>
          <a:stretch/>
        </p:blipFill>
        <p:spPr>
          <a:xfrm>
            <a:off x="455134" y="2482591"/>
            <a:ext cx="4425623" cy="39182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63F52A-68B5-48D6-D244-DF55B75174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21" r="34721"/>
          <a:stretch/>
        </p:blipFill>
        <p:spPr>
          <a:xfrm>
            <a:off x="5039581" y="455276"/>
            <a:ext cx="2128524" cy="391820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634A21A-3D5D-4DFA-99F4-16A031986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21624" y="453918"/>
            <a:ext cx="4413176" cy="3918209"/>
          </a:xfrm>
          <a:prstGeom prst="rect">
            <a:avLst/>
          </a:prstGeom>
          <a:solidFill>
            <a:srgbClr val="475A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33E94A-7DBF-C8AC-DDE1-2DF423C43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3828" y="1801010"/>
            <a:ext cx="3890683" cy="2079811"/>
          </a:xfrm>
        </p:spPr>
        <p:txBody>
          <a:bodyPr>
            <a:normAutofit fontScale="90000"/>
          </a:bodyPr>
          <a:lstStyle/>
          <a:p>
            <a:r>
              <a:rPr lang="en-CA" sz="48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OE3C 2026</a:t>
            </a:r>
            <a:br>
              <a:rPr lang="en-CA" sz="48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en-CA" sz="30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CA" sz="30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May 14-16, 2026</a:t>
            </a:r>
            <a:br>
              <a:rPr lang="en-CA" sz="30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CA" sz="30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Brock University</a:t>
            </a:r>
            <a:br>
              <a:rPr lang="en-CA" sz="30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en-CA" sz="30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2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Coexisting with nature: life in the Niagara escarpment biosphere</a:t>
            </a:r>
            <a:endParaRPr lang="en-CA" sz="3000" b="1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08AF74-572B-FCF8-5105-1365A66A62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9" r="4889"/>
          <a:stretch/>
        </p:blipFill>
        <p:spPr>
          <a:xfrm>
            <a:off x="5035056" y="4533661"/>
            <a:ext cx="2133050" cy="1865533"/>
          </a:xfrm>
          <a:prstGeom prst="rect">
            <a:avLst/>
          </a:prstGeom>
        </p:spPr>
      </p:pic>
      <p:pic>
        <p:nvPicPr>
          <p:cNvPr id="5" name="Picture 4" descr="A building with a parking lot and a parking lot&#10;&#10;AI-generated content may be incorrect.">
            <a:extLst>
              <a:ext uri="{FF2B5EF4-FFF2-40B4-BE49-F238E27FC236}">
                <a16:creationId xmlns:a16="http://schemas.microsoft.com/office/drawing/2014/main" id="{CA224B46-CD1F-A774-3992-883B971DB5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3" r="11260" b="-7"/>
          <a:stretch/>
        </p:blipFill>
        <p:spPr>
          <a:xfrm>
            <a:off x="7318437" y="4535267"/>
            <a:ext cx="2136433" cy="1865533"/>
          </a:xfrm>
          <a:prstGeom prst="rect">
            <a:avLst/>
          </a:prstGeom>
        </p:spPr>
      </p:pic>
      <p:pic>
        <p:nvPicPr>
          <p:cNvPr id="11" name="Picture 10" descr="A auditorium with red seats&#10;&#10;AI-generated content may be incorrect.">
            <a:extLst>
              <a:ext uri="{FF2B5EF4-FFF2-40B4-BE49-F238E27FC236}">
                <a16:creationId xmlns:a16="http://schemas.microsoft.com/office/drawing/2014/main" id="{DA767D87-0752-3339-5DF2-56961FB149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76" r="8467"/>
          <a:stretch/>
        </p:blipFill>
        <p:spPr>
          <a:xfrm>
            <a:off x="9609170" y="4535267"/>
            <a:ext cx="2125631" cy="186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085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324968-014E-A564-8A1C-06CBDD723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ow angle view of a building&#10;&#10;AI-generated content may be incorrect.">
            <a:extLst>
              <a:ext uri="{FF2B5EF4-FFF2-40B4-BE49-F238E27FC236}">
                <a16:creationId xmlns:a16="http://schemas.microsoft.com/office/drawing/2014/main" id="{6803342C-B954-89A5-9313-74F5CC45316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31" b="1291"/>
          <a:stretch/>
        </p:blipFill>
        <p:spPr>
          <a:xfrm>
            <a:off x="-8" y="-4"/>
            <a:ext cx="12192000" cy="68559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B4746B-A4CE-56CE-1C2D-EA1B8BE419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25688" y="4019494"/>
            <a:ext cx="5593977" cy="1363215"/>
          </a:xfrm>
        </p:spPr>
        <p:txBody>
          <a:bodyPr anchor="t">
            <a:normAutofit fontScale="90000"/>
          </a:bodyPr>
          <a:lstStyle/>
          <a:p>
            <a:r>
              <a:rPr lang="en-CA" b="1" dirty="0">
                <a:latin typeface="Verdana" panose="020B0604030504040204" pitchFamily="34" charset="0"/>
                <a:ea typeface="Verdana" panose="020B0604030504040204" pitchFamily="34" charset="0"/>
              </a:rPr>
              <a:t>OE3C 2026</a:t>
            </a:r>
            <a:br>
              <a:rPr lang="en-CA" sz="28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en-CA" sz="28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CA" sz="2800" b="1" dirty="0">
                <a:latin typeface="Verdana" panose="020B0604030504040204" pitchFamily="34" charset="0"/>
                <a:ea typeface="Verdana" panose="020B0604030504040204" pitchFamily="34" charset="0"/>
              </a:rPr>
              <a:t>May 14-16, 2026</a:t>
            </a:r>
            <a:br>
              <a:rPr lang="en-CA" sz="28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CA" sz="2800" b="1" dirty="0">
                <a:latin typeface="Verdana" panose="020B0604030504040204" pitchFamily="34" charset="0"/>
                <a:ea typeface="Verdana" panose="020B0604030504040204" pitchFamily="34" charset="0"/>
              </a:rPr>
              <a:t>Brock University</a:t>
            </a:r>
            <a:br>
              <a:rPr lang="en-CA" sz="28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en-CA" sz="28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2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Coexisting with nature: life in the Niagara escarpment biosphere</a:t>
            </a:r>
            <a:endParaRPr lang="en-CA" sz="2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6E384F5-137A-40B1-97F0-694CC6ECD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22218"/>
            <a:ext cx="3730752" cy="4735782"/>
          </a:xfrm>
          <a:custGeom>
            <a:avLst/>
            <a:gdLst>
              <a:gd name="connsiteX0" fmla="*/ 640080 w 3730752"/>
              <a:gd name="connsiteY0" fmla="*/ 0 h 4735782"/>
              <a:gd name="connsiteX1" fmla="*/ 3730752 w 3730752"/>
              <a:gd name="connsiteY1" fmla="*/ 3090672 h 4735782"/>
              <a:gd name="connsiteX2" fmla="*/ 3357725 w 3730752"/>
              <a:gd name="connsiteY2" fmla="*/ 4563870 h 4735782"/>
              <a:gd name="connsiteX3" fmla="*/ 3253285 w 3730752"/>
              <a:gd name="connsiteY3" fmla="*/ 4735782 h 4735782"/>
              <a:gd name="connsiteX4" fmla="*/ 0 w 3730752"/>
              <a:gd name="connsiteY4" fmla="*/ 4735782 h 4735782"/>
              <a:gd name="connsiteX5" fmla="*/ 0 w 3730752"/>
              <a:gd name="connsiteY5" fmla="*/ 67215 h 4735782"/>
              <a:gd name="connsiteX6" fmla="*/ 17202 w 3730752"/>
              <a:gd name="connsiteY6" fmla="*/ 62792 h 4735782"/>
              <a:gd name="connsiteX7" fmla="*/ 640080 w 3730752"/>
              <a:gd name="connsiteY7" fmla="*/ 0 h 4735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0752" h="4735782">
                <a:moveTo>
                  <a:pt x="640080" y="0"/>
                </a:moveTo>
                <a:cubicBezTo>
                  <a:pt x="2347011" y="0"/>
                  <a:pt x="3730752" y="1383741"/>
                  <a:pt x="3730752" y="3090672"/>
                </a:cubicBezTo>
                <a:cubicBezTo>
                  <a:pt x="3730752" y="3624088"/>
                  <a:pt x="3595621" y="4125943"/>
                  <a:pt x="3357725" y="4563870"/>
                </a:cubicBezTo>
                <a:lnTo>
                  <a:pt x="3253285" y="4735782"/>
                </a:lnTo>
                <a:lnTo>
                  <a:pt x="0" y="4735782"/>
                </a:lnTo>
                <a:lnTo>
                  <a:pt x="0" y="67215"/>
                </a:lnTo>
                <a:lnTo>
                  <a:pt x="17202" y="62792"/>
                </a:lnTo>
                <a:cubicBezTo>
                  <a:pt x="218397" y="21621"/>
                  <a:pt x="426714" y="0"/>
                  <a:pt x="64008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DBC4630-03DA-474F-BBCB-BA3AE6B31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1982" y="-4332"/>
            <a:ext cx="4242816" cy="2454158"/>
          </a:xfrm>
          <a:custGeom>
            <a:avLst/>
            <a:gdLst>
              <a:gd name="connsiteX0" fmla="*/ 28633 w 4242816"/>
              <a:gd name="connsiteY0" fmla="*/ 0 h 2454158"/>
              <a:gd name="connsiteX1" fmla="*/ 4214183 w 4242816"/>
              <a:gd name="connsiteY1" fmla="*/ 0 h 2454158"/>
              <a:gd name="connsiteX2" fmla="*/ 4231864 w 4242816"/>
              <a:gd name="connsiteY2" fmla="*/ 115848 h 2454158"/>
              <a:gd name="connsiteX3" fmla="*/ 4242816 w 4242816"/>
              <a:gd name="connsiteY3" fmla="*/ 332750 h 2454158"/>
              <a:gd name="connsiteX4" fmla="*/ 2121408 w 4242816"/>
              <a:gd name="connsiteY4" fmla="*/ 2454158 h 2454158"/>
              <a:gd name="connsiteX5" fmla="*/ 0 w 4242816"/>
              <a:gd name="connsiteY5" fmla="*/ 332750 h 2454158"/>
              <a:gd name="connsiteX6" fmla="*/ 10953 w 4242816"/>
              <a:gd name="connsiteY6" fmla="*/ 115848 h 245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42816" h="2454158">
                <a:moveTo>
                  <a:pt x="28633" y="0"/>
                </a:moveTo>
                <a:lnTo>
                  <a:pt x="4214183" y="0"/>
                </a:lnTo>
                <a:lnTo>
                  <a:pt x="4231864" y="115848"/>
                </a:lnTo>
                <a:cubicBezTo>
                  <a:pt x="4239106" y="187164"/>
                  <a:pt x="4242816" y="259524"/>
                  <a:pt x="4242816" y="332750"/>
                </a:cubicBezTo>
                <a:cubicBezTo>
                  <a:pt x="4242816" y="1504371"/>
                  <a:pt x="3293029" y="2454158"/>
                  <a:pt x="2121408" y="2454158"/>
                </a:cubicBezTo>
                <a:cubicBezTo>
                  <a:pt x="949787" y="2454158"/>
                  <a:pt x="0" y="1504371"/>
                  <a:pt x="0" y="332750"/>
                </a:cubicBezTo>
                <a:cubicBezTo>
                  <a:pt x="0" y="259524"/>
                  <a:pt x="3710" y="187164"/>
                  <a:pt x="10953" y="1158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building with a parking lot and a parking lot&#10;&#10;AI-generated content may be incorrect.">
            <a:extLst>
              <a:ext uri="{FF2B5EF4-FFF2-40B4-BE49-F238E27FC236}">
                <a16:creationId xmlns:a16="http://schemas.microsoft.com/office/drawing/2014/main" id="{F964EEB2-7B48-B627-539A-D5D3D13C79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52" r="-1" b="2792"/>
          <a:stretch/>
        </p:blipFill>
        <p:spPr>
          <a:xfrm>
            <a:off x="1246573" y="10"/>
            <a:ext cx="3913632" cy="2285224"/>
          </a:xfrm>
          <a:custGeom>
            <a:avLst/>
            <a:gdLst/>
            <a:ahLst/>
            <a:cxnLst/>
            <a:rect l="l" t="t" r="r" b="b"/>
            <a:pathLst>
              <a:path w="3913632" h="2285234">
                <a:moveTo>
                  <a:pt x="29691" y="0"/>
                </a:moveTo>
                <a:lnTo>
                  <a:pt x="3883942" y="0"/>
                </a:lnTo>
                <a:lnTo>
                  <a:pt x="3903529" y="128345"/>
                </a:lnTo>
                <a:cubicBezTo>
                  <a:pt x="3910210" y="194127"/>
                  <a:pt x="3913632" y="260873"/>
                  <a:pt x="3913632" y="328418"/>
                </a:cubicBezTo>
                <a:cubicBezTo>
                  <a:pt x="3913632" y="1409138"/>
                  <a:pt x="3037536" y="2285234"/>
                  <a:pt x="1956816" y="2285234"/>
                </a:cubicBezTo>
                <a:cubicBezTo>
                  <a:pt x="876096" y="2285234"/>
                  <a:pt x="0" y="1409138"/>
                  <a:pt x="0" y="328418"/>
                </a:cubicBezTo>
                <a:cubicBezTo>
                  <a:pt x="0" y="260873"/>
                  <a:pt x="3422" y="194127"/>
                  <a:pt x="10103" y="128345"/>
                </a:cubicBezTo>
                <a:close/>
              </a:path>
            </a:pathLst>
          </a:cu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779B3E2-FB5D-431A-59BB-9F3F7036E7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12" r="16963"/>
          <a:stretch/>
        </p:blipFill>
        <p:spPr>
          <a:xfrm>
            <a:off x="20" y="2288331"/>
            <a:ext cx="3564618" cy="4569668"/>
          </a:xfrm>
          <a:custGeom>
            <a:avLst/>
            <a:gdLst/>
            <a:ahLst/>
            <a:cxnLst/>
            <a:rect l="l" t="t" r="r" b="b"/>
            <a:pathLst>
              <a:path w="3564638" h="4569668">
                <a:moveTo>
                  <a:pt x="640080" y="0"/>
                </a:moveTo>
                <a:cubicBezTo>
                  <a:pt x="2255269" y="0"/>
                  <a:pt x="3564638" y="1309369"/>
                  <a:pt x="3564638" y="2924558"/>
                </a:cubicBezTo>
                <a:cubicBezTo>
                  <a:pt x="3564638" y="3530254"/>
                  <a:pt x="3380508" y="4092944"/>
                  <a:pt x="3065170" y="4559707"/>
                </a:cubicBezTo>
                <a:lnTo>
                  <a:pt x="3057720" y="4569668"/>
                </a:lnTo>
                <a:lnTo>
                  <a:pt x="0" y="4569668"/>
                </a:lnTo>
                <a:lnTo>
                  <a:pt x="0" y="72448"/>
                </a:lnTo>
                <a:lnTo>
                  <a:pt x="50679" y="59417"/>
                </a:lnTo>
                <a:cubicBezTo>
                  <a:pt x="241061" y="20459"/>
                  <a:pt x="438181" y="0"/>
                  <a:pt x="640080" y="0"/>
                </a:cubicBezTo>
                <a:close/>
              </a:path>
            </a:pathLst>
          </a:cu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78418A25-6EAC-4140-BFE6-284E1925B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0967" y="561316"/>
            <a:ext cx="3182112" cy="3182112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52810D-3BA6-D27B-CB04-49F13C03C9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5" r="21875"/>
          <a:stretch/>
        </p:blipFill>
        <p:spPr>
          <a:xfrm>
            <a:off x="5525559" y="725908"/>
            <a:ext cx="2852928" cy="2852928"/>
          </a:xfrm>
          <a:custGeom>
            <a:avLst/>
            <a:gdLst/>
            <a:ahLst/>
            <a:cxnLst/>
            <a:rect l="l" t="t" r="r" b="b"/>
            <a:pathLst>
              <a:path w="2852928" h="2852928">
                <a:moveTo>
                  <a:pt x="1426464" y="0"/>
                </a:moveTo>
                <a:cubicBezTo>
                  <a:pt x="2214278" y="0"/>
                  <a:pt x="2852928" y="638650"/>
                  <a:pt x="2852928" y="1426464"/>
                </a:cubicBezTo>
                <a:cubicBezTo>
                  <a:pt x="2852928" y="2214278"/>
                  <a:pt x="2214278" y="2852928"/>
                  <a:pt x="1426464" y="2852928"/>
                </a:cubicBezTo>
                <a:cubicBezTo>
                  <a:pt x="638650" y="2852928"/>
                  <a:pt x="0" y="2214278"/>
                  <a:pt x="0" y="1426464"/>
                </a:cubicBezTo>
                <a:cubicBezTo>
                  <a:pt x="0" y="638650"/>
                  <a:pt x="638650" y="0"/>
                  <a:pt x="1426464" y="0"/>
                </a:cubicBezTo>
                <a:close/>
              </a:path>
            </a:pathLst>
          </a:custGeom>
        </p:spPr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B9D64DB-4D5C-4A91-B45F-F301E3174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2568" y="-4332"/>
            <a:ext cx="3439432" cy="3550083"/>
          </a:xfrm>
          <a:custGeom>
            <a:avLst/>
            <a:gdLst>
              <a:gd name="connsiteX0" fmla="*/ 115336 w 3439432"/>
              <a:gd name="connsiteY0" fmla="*/ 0 h 3550083"/>
              <a:gd name="connsiteX1" fmla="*/ 3439432 w 3439432"/>
              <a:gd name="connsiteY1" fmla="*/ 0 h 3550083"/>
              <a:gd name="connsiteX2" fmla="*/ 3439432 w 3439432"/>
              <a:gd name="connsiteY2" fmla="*/ 3462762 h 3550083"/>
              <a:gd name="connsiteX3" fmla="*/ 3318024 w 3439432"/>
              <a:gd name="connsiteY3" fmla="*/ 3493980 h 3550083"/>
              <a:gd name="connsiteX4" fmla="*/ 2761488 w 3439432"/>
              <a:gd name="connsiteY4" fmla="*/ 3550083 h 3550083"/>
              <a:gd name="connsiteX5" fmla="*/ 0 w 3439432"/>
              <a:gd name="connsiteY5" fmla="*/ 788595 h 3550083"/>
              <a:gd name="connsiteX6" fmla="*/ 70713 w 3439432"/>
              <a:gd name="connsiteY6" fmla="*/ 164949 h 3550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9432" h="3550083">
                <a:moveTo>
                  <a:pt x="115336" y="0"/>
                </a:moveTo>
                <a:lnTo>
                  <a:pt x="3439432" y="0"/>
                </a:lnTo>
                <a:lnTo>
                  <a:pt x="3439432" y="3462762"/>
                </a:lnTo>
                <a:lnTo>
                  <a:pt x="3318024" y="3493980"/>
                </a:lnTo>
                <a:cubicBezTo>
                  <a:pt x="3138258" y="3530765"/>
                  <a:pt x="2952129" y="3550083"/>
                  <a:pt x="2761488" y="3550083"/>
                </a:cubicBezTo>
                <a:cubicBezTo>
                  <a:pt x="1236360" y="3550083"/>
                  <a:pt x="0" y="2313723"/>
                  <a:pt x="0" y="788595"/>
                </a:cubicBezTo>
                <a:cubicBezTo>
                  <a:pt x="0" y="574124"/>
                  <a:pt x="24450" y="365364"/>
                  <a:pt x="70713" y="164949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 descr="A bunches of grapes on a vine&#10;&#10;AI-generated content may be incorrect.">
            <a:extLst>
              <a:ext uri="{FF2B5EF4-FFF2-40B4-BE49-F238E27FC236}">
                <a16:creationId xmlns:a16="http://schemas.microsoft.com/office/drawing/2014/main" id="{17DC7E5C-A92C-B5B5-4459-416A0C4AA7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35" r="638" b="-3"/>
          <a:stretch/>
        </p:blipFill>
        <p:spPr>
          <a:xfrm>
            <a:off x="8918761" y="-4331"/>
            <a:ext cx="3273238" cy="3383891"/>
          </a:xfrm>
          <a:custGeom>
            <a:avLst/>
            <a:gdLst/>
            <a:ahLst/>
            <a:cxnLst/>
            <a:rect l="l" t="t" r="r" b="b"/>
            <a:pathLst>
              <a:path w="3273238" h="3383891">
                <a:moveTo>
                  <a:pt x="122841" y="0"/>
                </a:moveTo>
                <a:lnTo>
                  <a:pt x="3273238" y="0"/>
                </a:lnTo>
                <a:lnTo>
                  <a:pt x="3273238" y="3291335"/>
                </a:lnTo>
                <a:lnTo>
                  <a:pt x="3118338" y="3331164"/>
                </a:lnTo>
                <a:cubicBezTo>
                  <a:pt x="2949390" y="3365736"/>
                  <a:pt x="2774463" y="3383891"/>
                  <a:pt x="2595295" y="3383891"/>
                </a:cubicBezTo>
                <a:cubicBezTo>
                  <a:pt x="1161953" y="3383891"/>
                  <a:pt x="0" y="2221938"/>
                  <a:pt x="0" y="788596"/>
                </a:cubicBezTo>
                <a:cubicBezTo>
                  <a:pt x="0" y="519845"/>
                  <a:pt x="40850" y="260634"/>
                  <a:pt x="116679" y="16835"/>
                </a:cubicBezTo>
                <a:close/>
              </a:path>
            </a:pathLst>
          </a:custGeom>
        </p:spPr>
      </p:pic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B14CE1B-4BC5-4EF2-BE3D-05E4F580B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99331" y="3907418"/>
            <a:ext cx="2992669" cy="2950582"/>
          </a:xfrm>
          <a:custGeom>
            <a:avLst/>
            <a:gdLst>
              <a:gd name="connsiteX0" fmla="*/ 2052140 w 2992669"/>
              <a:gd name="connsiteY0" fmla="*/ 0 h 2950582"/>
              <a:gd name="connsiteX1" fmla="*/ 2850926 w 2992669"/>
              <a:gd name="connsiteY1" fmla="*/ 161267 h 2950582"/>
              <a:gd name="connsiteX2" fmla="*/ 2992669 w 2992669"/>
              <a:gd name="connsiteY2" fmla="*/ 229549 h 2950582"/>
              <a:gd name="connsiteX3" fmla="*/ 2992669 w 2992669"/>
              <a:gd name="connsiteY3" fmla="*/ 2950582 h 2950582"/>
              <a:gd name="connsiteX4" fmla="*/ 209274 w 2992669"/>
              <a:gd name="connsiteY4" fmla="*/ 2950582 h 2950582"/>
              <a:gd name="connsiteX5" fmla="*/ 161267 w 2992669"/>
              <a:gd name="connsiteY5" fmla="*/ 2850926 h 2950582"/>
              <a:gd name="connsiteX6" fmla="*/ 0 w 2992669"/>
              <a:gd name="connsiteY6" fmla="*/ 2052140 h 2950582"/>
              <a:gd name="connsiteX7" fmla="*/ 2052140 w 2992669"/>
              <a:gd name="connsiteY7" fmla="*/ 0 h 2950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669" h="2950582">
                <a:moveTo>
                  <a:pt x="2052140" y="0"/>
                </a:moveTo>
                <a:cubicBezTo>
                  <a:pt x="2335482" y="0"/>
                  <a:pt x="2605411" y="57424"/>
                  <a:pt x="2850926" y="161267"/>
                </a:cubicBezTo>
                <a:lnTo>
                  <a:pt x="2992669" y="229549"/>
                </a:lnTo>
                <a:lnTo>
                  <a:pt x="2992669" y="2950582"/>
                </a:lnTo>
                <a:lnTo>
                  <a:pt x="209274" y="2950582"/>
                </a:lnTo>
                <a:lnTo>
                  <a:pt x="161267" y="2850926"/>
                </a:lnTo>
                <a:cubicBezTo>
                  <a:pt x="57423" y="2605411"/>
                  <a:pt x="0" y="2335482"/>
                  <a:pt x="0" y="2052140"/>
                </a:cubicBezTo>
                <a:cubicBezTo>
                  <a:pt x="0" y="918774"/>
                  <a:pt x="918774" y="0"/>
                  <a:pt x="205214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91428B-54D1-3D56-D6D0-BA02B8C45F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63" r="16163"/>
          <a:stretch/>
        </p:blipFill>
        <p:spPr>
          <a:xfrm>
            <a:off x="9363238" y="4071322"/>
            <a:ext cx="2828765" cy="2786678"/>
          </a:xfrm>
          <a:custGeom>
            <a:avLst/>
            <a:gdLst/>
            <a:ahLst/>
            <a:cxnLst/>
            <a:rect l="l" t="t" r="r" b="b"/>
            <a:pathLst>
              <a:path w="2828765" h="2786678">
                <a:moveTo>
                  <a:pt x="1888236" y="0"/>
                </a:moveTo>
                <a:cubicBezTo>
                  <a:pt x="2214125" y="0"/>
                  <a:pt x="2520731" y="82558"/>
                  <a:pt x="2788281" y="227900"/>
                </a:cubicBezTo>
                <a:lnTo>
                  <a:pt x="2828765" y="252495"/>
                </a:lnTo>
                <a:lnTo>
                  <a:pt x="2828765" y="2786678"/>
                </a:lnTo>
                <a:lnTo>
                  <a:pt x="227128" y="2786678"/>
                </a:lnTo>
                <a:lnTo>
                  <a:pt x="148387" y="2623223"/>
                </a:lnTo>
                <a:cubicBezTo>
                  <a:pt x="52837" y="2397318"/>
                  <a:pt x="0" y="2148947"/>
                  <a:pt x="0" y="1888236"/>
                </a:cubicBezTo>
                <a:cubicBezTo>
                  <a:pt x="0" y="845392"/>
                  <a:pt x="845392" y="0"/>
                  <a:pt x="188823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14539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CAD06A-8763-D107-4F11-3A9E7423A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auditorium with red seats&#10;&#10;AI-generated content may be incorrect.">
            <a:extLst>
              <a:ext uri="{FF2B5EF4-FFF2-40B4-BE49-F238E27FC236}">
                <a16:creationId xmlns:a16="http://schemas.microsoft.com/office/drawing/2014/main" id="{4293BDCF-B1DF-92D6-FC30-BC604FCABA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39" r="3133" b="3"/>
          <a:stretch/>
        </p:blipFill>
        <p:spPr>
          <a:xfrm>
            <a:off x="4" y="-6236"/>
            <a:ext cx="3255403" cy="2505456"/>
          </a:xfrm>
          <a:custGeom>
            <a:avLst/>
            <a:gdLst/>
            <a:ahLst/>
            <a:cxnLst/>
            <a:rect l="l" t="t" r="r" b="b"/>
            <a:pathLst>
              <a:path w="3255403" h="2505456">
                <a:moveTo>
                  <a:pt x="0" y="0"/>
                </a:moveTo>
                <a:lnTo>
                  <a:pt x="3255403" y="0"/>
                </a:lnTo>
                <a:lnTo>
                  <a:pt x="2094477" y="2505456"/>
                </a:lnTo>
                <a:lnTo>
                  <a:pt x="0" y="2505456"/>
                </a:lnTo>
                <a:close/>
              </a:path>
            </a:pathLst>
          </a:custGeom>
        </p:spPr>
      </p:pic>
      <p:pic>
        <p:nvPicPr>
          <p:cNvPr id="5" name="Picture 4" descr="A building with a parking lot and a parking lot&#10;&#10;AI-generated content may be incorrect.">
            <a:extLst>
              <a:ext uri="{FF2B5EF4-FFF2-40B4-BE49-F238E27FC236}">
                <a16:creationId xmlns:a16="http://schemas.microsoft.com/office/drawing/2014/main" id="{6B9F1864-BDF0-2011-057B-91346AB7DE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68" r="5" b="5"/>
          <a:stretch/>
        </p:blipFill>
        <p:spPr>
          <a:xfrm>
            <a:off x="4675539" y="-6235"/>
            <a:ext cx="3677817" cy="2505456"/>
          </a:xfrm>
          <a:custGeom>
            <a:avLst/>
            <a:gdLst/>
            <a:ahLst/>
            <a:cxnLst/>
            <a:rect l="l" t="t" r="r" b="b"/>
            <a:pathLst>
              <a:path w="3677817" h="2505456">
                <a:moveTo>
                  <a:pt x="1160926" y="0"/>
                </a:moveTo>
                <a:lnTo>
                  <a:pt x="3677817" y="0"/>
                </a:lnTo>
                <a:lnTo>
                  <a:pt x="2516891" y="2505456"/>
                </a:lnTo>
                <a:lnTo>
                  <a:pt x="0" y="2505456"/>
                </a:lnTo>
                <a:close/>
              </a:path>
            </a:pathLst>
          </a:custGeom>
        </p:spPr>
      </p:pic>
      <p:pic>
        <p:nvPicPr>
          <p:cNvPr id="7" name="Picture 6" descr="A low angle view of a building&#10;&#10;AI-generated content may be incorrect.">
            <a:extLst>
              <a:ext uri="{FF2B5EF4-FFF2-40B4-BE49-F238E27FC236}">
                <a16:creationId xmlns:a16="http://schemas.microsoft.com/office/drawing/2014/main" id="{A9A07F45-F975-B6BE-8CF7-43BA1E2FCF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46" r="-3" b="4103"/>
          <a:stretch/>
        </p:blipFill>
        <p:spPr>
          <a:xfrm>
            <a:off x="7381876" y="1"/>
            <a:ext cx="4810125" cy="2501837"/>
          </a:xfrm>
          <a:custGeom>
            <a:avLst/>
            <a:gdLst/>
            <a:ahLst/>
            <a:cxnLst/>
            <a:rect l="l" t="t" r="r" b="b"/>
            <a:pathLst>
              <a:path w="4810125" h="2501837">
                <a:moveTo>
                  <a:pt x="1159248" y="0"/>
                </a:moveTo>
                <a:lnTo>
                  <a:pt x="4810125" y="0"/>
                </a:lnTo>
                <a:lnTo>
                  <a:pt x="4810125" y="2501837"/>
                </a:lnTo>
                <a:lnTo>
                  <a:pt x="0" y="2501837"/>
                </a:lnTo>
                <a:close/>
              </a:path>
            </a:pathLst>
          </a:cu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3F8E0B-F55F-C82A-55F6-CABE54CED8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71" r="-2" b="-2"/>
          <a:stretch/>
        </p:blipFill>
        <p:spPr>
          <a:xfrm>
            <a:off x="20" y="2658276"/>
            <a:ext cx="3770704" cy="4199724"/>
          </a:xfrm>
          <a:custGeom>
            <a:avLst/>
            <a:gdLst/>
            <a:ahLst/>
            <a:cxnLst/>
            <a:rect l="l" t="t" r="r" b="b"/>
            <a:pathLst>
              <a:path w="3770724" h="4199724">
                <a:moveTo>
                  <a:pt x="0" y="0"/>
                </a:moveTo>
                <a:lnTo>
                  <a:pt x="3770724" y="0"/>
                </a:lnTo>
                <a:lnTo>
                  <a:pt x="1824067" y="4199724"/>
                </a:lnTo>
                <a:lnTo>
                  <a:pt x="0" y="4199724"/>
                </a:lnTo>
                <a:close/>
              </a:path>
            </a:pathLst>
          </a:custGeom>
        </p:spPr>
      </p:pic>
      <p:pic>
        <p:nvPicPr>
          <p:cNvPr id="15" name="Picture 14" descr="A bunches of grapes on a vine&#10;&#10;AI-generated content may be incorrect.">
            <a:extLst>
              <a:ext uri="{FF2B5EF4-FFF2-40B4-BE49-F238E27FC236}">
                <a16:creationId xmlns:a16="http://schemas.microsoft.com/office/drawing/2014/main" id="{0B9A058C-EE5D-8E59-8701-1BC59C35B9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71" r="2" b="2"/>
          <a:stretch/>
        </p:blipFill>
        <p:spPr>
          <a:xfrm>
            <a:off x="2013796" y="2661900"/>
            <a:ext cx="5108726" cy="4197911"/>
          </a:xfrm>
          <a:custGeom>
            <a:avLst/>
            <a:gdLst/>
            <a:ahLst/>
            <a:cxnLst/>
            <a:rect l="l" t="t" r="r" b="b"/>
            <a:pathLst>
              <a:path w="5108726" h="4197911">
                <a:moveTo>
                  <a:pt x="1945141" y="0"/>
                </a:moveTo>
                <a:lnTo>
                  <a:pt x="5108726" y="0"/>
                </a:lnTo>
                <a:lnTo>
                  <a:pt x="3163585" y="4197911"/>
                </a:lnTo>
                <a:lnTo>
                  <a:pt x="3157362" y="4197911"/>
                </a:lnTo>
                <a:lnTo>
                  <a:pt x="1967571" y="4197911"/>
                </a:lnTo>
                <a:lnTo>
                  <a:pt x="317526" y="4197911"/>
                </a:lnTo>
                <a:lnTo>
                  <a:pt x="0" y="4197911"/>
                </a:lnTo>
                <a:close/>
              </a:path>
            </a:pathLst>
          </a:custGeom>
        </p:spPr>
      </p:pic>
      <p:sp>
        <p:nvSpPr>
          <p:cNvPr id="20" name="Freeform 43">
            <a:extLst>
              <a:ext uri="{FF2B5EF4-FFF2-40B4-BE49-F238E27FC236}">
                <a16:creationId xmlns:a16="http://schemas.microsoft.com/office/drawing/2014/main" id="{AAD8F19F-4A55-467B-BED0-8837659A9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53050" y="2660089"/>
            <a:ext cx="6838950" cy="4197911"/>
          </a:xfrm>
          <a:custGeom>
            <a:avLst/>
            <a:gdLst>
              <a:gd name="connsiteX0" fmla="*/ 4893809 w 6838950"/>
              <a:gd name="connsiteY0" fmla="*/ 0 h 4197911"/>
              <a:gd name="connsiteX1" fmla="*/ 4887586 w 6838950"/>
              <a:gd name="connsiteY1" fmla="*/ 0 h 4197911"/>
              <a:gd name="connsiteX2" fmla="*/ 3697795 w 6838950"/>
              <a:gd name="connsiteY2" fmla="*/ 0 h 4197911"/>
              <a:gd name="connsiteX3" fmla="*/ 2047750 w 6838950"/>
              <a:gd name="connsiteY3" fmla="*/ 0 h 4197911"/>
              <a:gd name="connsiteX4" fmla="*/ 0 w 6838950"/>
              <a:gd name="connsiteY4" fmla="*/ 0 h 4197911"/>
              <a:gd name="connsiteX5" fmla="*/ 0 w 6838950"/>
              <a:gd name="connsiteY5" fmla="*/ 4197911 h 4197911"/>
              <a:gd name="connsiteX6" fmla="*/ 6838950 w 6838950"/>
              <a:gd name="connsiteY6" fmla="*/ 4197911 h 419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38950" h="4197911">
                <a:moveTo>
                  <a:pt x="4893809" y="0"/>
                </a:moveTo>
                <a:lnTo>
                  <a:pt x="4887586" y="0"/>
                </a:lnTo>
                <a:lnTo>
                  <a:pt x="3697795" y="0"/>
                </a:lnTo>
                <a:lnTo>
                  <a:pt x="2047750" y="0"/>
                </a:lnTo>
                <a:lnTo>
                  <a:pt x="0" y="0"/>
                </a:lnTo>
                <a:lnTo>
                  <a:pt x="0" y="4197911"/>
                </a:lnTo>
                <a:lnTo>
                  <a:pt x="6838950" y="4197911"/>
                </a:lnTo>
                <a:close/>
              </a:path>
            </a:pathLst>
          </a:custGeom>
          <a:solidFill>
            <a:srgbClr val="475A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8BD35-C6BD-4DEB-8514-C6CBC1EBE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9470" y="2898947"/>
            <a:ext cx="4997354" cy="2163872"/>
          </a:xfrm>
        </p:spPr>
        <p:txBody>
          <a:bodyPr anchor="t">
            <a:normAutofit fontScale="90000"/>
          </a:bodyPr>
          <a:lstStyle/>
          <a:p>
            <a:pPr algn="r"/>
            <a:r>
              <a:rPr lang="en-CA" sz="66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OE3C 2026</a:t>
            </a:r>
            <a:br>
              <a:rPr lang="en-CA" sz="38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en-CA" sz="38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CA" sz="38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May 14-16, 2026</a:t>
            </a:r>
            <a:br>
              <a:rPr lang="en-CA" sz="38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CA" sz="38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Brock University</a:t>
            </a:r>
            <a:br>
              <a:rPr lang="en-CA" sz="38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en-CA" sz="38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31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Coexisting with nature: life in the Niagara escarpment biosphere</a:t>
            </a:r>
            <a:endParaRPr lang="en-CA" sz="3800" b="1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AAC2CC-2A7A-6F14-B876-67BE366825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94" r="13131" b="2"/>
          <a:stretch/>
        </p:blipFill>
        <p:spPr>
          <a:xfrm>
            <a:off x="2261968" y="1"/>
            <a:ext cx="3393943" cy="2502843"/>
          </a:xfrm>
          <a:custGeom>
            <a:avLst/>
            <a:gdLst/>
            <a:ahLst/>
            <a:cxnLst/>
            <a:rect l="l" t="t" r="r" b="b"/>
            <a:pathLst>
              <a:path w="3393943" h="2502843">
                <a:moveTo>
                  <a:pt x="1159715" y="0"/>
                </a:moveTo>
                <a:lnTo>
                  <a:pt x="3393943" y="0"/>
                </a:lnTo>
                <a:lnTo>
                  <a:pt x="2234228" y="2502843"/>
                </a:lnTo>
                <a:lnTo>
                  <a:pt x="0" y="2502843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90877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B94294CB887F42BEEB8F68FE8A24CE" ma:contentTypeVersion="9" ma:contentTypeDescription="Create a new document." ma:contentTypeScope="" ma:versionID="f4762d7b58dcaa2fb0557abb331a796d">
  <xsd:schema xmlns:xsd="http://www.w3.org/2001/XMLSchema" xmlns:xs="http://www.w3.org/2001/XMLSchema" xmlns:p="http://schemas.microsoft.com/office/2006/metadata/properties" xmlns:ns2="4f66800e-b8c8-4f1d-9966-46ed6851c537" xmlns:ns3="ac658da9-eddc-40b3-a3e4-f4ed2eb4c2ea" targetNamespace="http://schemas.microsoft.com/office/2006/metadata/properties" ma:root="true" ma:fieldsID="b25b78854ca7a93137edace39bcb7899" ns2:_="" ns3:_="">
    <xsd:import namespace="4f66800e-b8c8-4f1d-9966-46ed6851c537"/>
    <xsd:import namespace="ac658da9-eddc-40b3-a3e4-f4ed2eb4c2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66800e-b8c8-4f1d-9966-46ed6851c5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08d44918-0402-4173-a38e-4345c47fbb3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658da9-eddc-40b3-a3e4-f4ed2eb4c2e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25c88de9-26ca-44be-82ce-33109b6030b3}" ma:internalName="TaxCatchAll" ma:showField="CatchAllData" ma:web="ac658da9-eddc-40b3-a3e4-f4ed2eb4c2e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f66800e-b8c8-4f1d-9966-46ed6851c537">
      <Terms xmlns="http://schemas.microsoft.com/office/infopath/2007/PartnerControls"/>
    </lcf76f155ced4ddcb4097134ff3c332f>
    <TaxCatchAll xmlns="ac658da9-eddc-40b3-a3e4-f4ed2eb4c2ea" xsi:nil="true"/>
  </documentManagement>
</p:properties>
</file>

<file path=customXml/itemProps1.xml><?xml version="1.0" encoding="utf-8"?>
<ds:datastoreItem xmlns:ds="http://schemas.openxmlformats.org/officeDocument/2006/customXml" ds:itemID="{AE0C7630-436F-41E0-BFF1-3F5A3F909FA1}"/>
</file>

<file path=customXml/itemProps2.xml><?xml version="1.0" encoding="utf-8"?>
<ds:datastoreItem xmlns:ds="http://schemas.openxmlformats.org/officeDocument/2006/customXml" ds:itemID="{24881224-F561-4082-9AE1-6AD36D517143}"/>
</file>

<file path=customXml/itemProps3.xml><?xml version="1.0" encoding="utf-8"?>
<ds:datastoreItem xmlns:ds="http://schemas.openxmlformats.org/officeDocument/2006/customXml" ds:itemID="{82C4D766-5923-4F29-B5AB-9FC6A487F5A0}"/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69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Verdana</vt:lpstr>
      <vt:lpstr>Office Theme</vt:lpstr>
      <vt:lpstr>OE3C 2026  May 14-16, 2026 Brock University  Coexisting with nature: life in the Niagara escarpment biosphere</vt:lpstr>
      <vt:lpstr>OE3C 2026  May 14-16, 2026 Brock University  Coexisting with nature: life in the Niagara escarpment biosphere</vt:lpstr>
      <vt:lpstr>OE3C 2026  May 14-16, 2026 Brock University  Coexisting with nature: life in the Niagara escarpment biosphere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Kiyoko Gotanda</dc:creator>
  <cp:lastModifiedBy>Kiyoko Gotanda</cp:lastModifiedBy>
  <cp:revision>4</cp:revision>
  <dcterms:created xsi:type="dcterms:W3CDTF">2025-05-03T18:23:32Z</dcterms:created>
  <dcterms:modified xsi:type="dcterms:W3CDTF">2025-05-03T20:06:32Z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0x01010044B94294CB887F42BEEB8F68FE8A24CE</vt:lpwstr>
  </property>
</Properties>
</file>
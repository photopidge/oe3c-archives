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8"/>
  </p:notesMasterIdLst>
  <p:sldIdLst>
    <p:sldId id="256" r:id="rId2"/>
    <p:sldId id="257" r:id="rId3"/>
    <p:sldId id="266" r:id="rId4"/>
    <p:sldId id="274" r:id="rId5"/>
    <p:sldId id="267" r:id="rId6"/>
    <p:sldId id="268" r:id="rId7"/>
    <p:sldId id="269" r:id="rId8"/>
    <p:sldId id="270" r:id="rId9"/>
    <p:sldId id="271" r:id="rId10"/>
    <p:sldId id="273" r:id="rId11"/>
    <p:sldId id="275" r:id="rId12"/>
    <p:sldId id="276" r:id="rId13"/>
    <p:sldId id="265" r:id="rId14"/>
    <p:sldId id="278" r:id="rId15"/>
    <p:sldId id="277" r:id="rId16"/>
    <p:sldId id="27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6A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5DF9B1-C062-FB4E-B0D0-76E60C936AAA}" v="9" dt="2026-03-23T19:20:11.1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69"/>
    <p:restoredTop sz="94671"/>
  </p:normalViewPr>
  <p:slideViewPr>
    <p:cSldViewPr snapToGrid="0">
      <p:cViewPr>
        <p:scale>
          <a:sx n="81" d="100"/>
          <a:sy n="81" d="100"/>
        </p:scale>
        <p:origin x="456" y="6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3E3E1B-EDD4-DC41-9749-A37D3620AECC}" type="datetimeFigureOut">
              <a:rPr lang="en-US" smtClean="0"/>
              <a:t>3/23/26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A34174-C133-3846-A500-779392C2C104}" type="slidenum">
              <a:rPr lang="en-US" smtClean="0"/>
              <a:t>‹#›</a:t>
            </a:fld>
            <a:endParaRPr lang="en-US"/>
          </a:p>
        </p:txBody>
      </p:sp>
    </p:spTree>
    <p:extLst>
      <p:ext uri="{BB962C8B-B14F-4D97-AF65-F5344CB8AC3E}">
        <p14:creationId xmlns:p14="http://schemas.microsoft.com/office/powerpoint/2010/main" val="539581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A34174-C133-3846-A500-779392C2C104}" type="slidenum">
              <a:rPr lang="en-US" smtClean="0"/>
              <a:t>9</a:t>
            </a:fld>
            <a:endParaRPr lang="en-US"/>
          </a:p>
        </p:txBody>
      </p:sp>
    </p:spTree>
    <p:extLst>
      <p:ext uri="{BB962C8B-B14F-4D97-AF65-F5344CB8AC3E}">
        <p14:creationId xmlns:p14="http://schemas.microsoft.com/office/powerpoint/2010/main" val="23731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A34174-C133-3846-A500-779392C2C104}" type="slidenum">
              <a:rPr lang="en-US" smtClean="0"/>
              <a:t>13</a:t>
            </a:fld>
            <a:endParaRPr lang="en-US"/>
          </a:p>
        </p:txBody>
      </p:sp>
    </p:spTree>
    <p:extLst>
      <p:ext uri="{BB962C8B-B14F-4D97-AF65-F5344CB8AC3E}">
        <p14:creationId xmlns:p14="http://schemas.microsoft.com/office/powerpoint/2010/main" val="3743544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A34174-C133-3846-A500-779392C2C104}" type="slidenum">
              <a:rPr lang="en-US" smtClean="0"/>
              <a:t>14</a:t>
            </a:fld>
            <a:endParaRPr lang="en-US"/>
          </a:p>
        </p:txBody>
      </p:sp>
    </p:spTree>
    <p:extLst>
      <p:ext uri="{BB962C8B-B14F-4D97-AF65-F5344CB8AC3E}">
        <p14:creationId xmlns:p14="http://schemas.microsoft.com/office/powerpoint/2010/main" val="3926170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37EC3F0-01A0-7746-A51A-16DCBF5795DB}"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C5170-0858-C448-BB26-8FEE4EBA41F5}" type="slidenum">
              <a:rPr lang="en-US" smtClean="0"/>
              <a:t>‹#›</a:t>
            </a:fld>
            <a:endParaRPr lang="en-US"/>
          </a:p>
        </p:txBody>
      </p:sp>
    </p:spTree>
    <p:extLst>
      <p:ext uri="{BB962C8B-B14F-4D97-AF65-F5344CB8AC3E}">
        <p14:creationId xmlns:p14="http://schemas.microsoft.com/office/powerpoint/2010/main" val="3555464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7EC3F0-01A0-7746-A51A-16DCBF5795DB}"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C5170-0858-C448-BB26-8FEE4EBA41F5}" type="slidenum">
              <a:rPr lang="en-US" smtClean="0"/>
              <a:t>‹#›</a:t>
            </a:fld>
            <a:endParaRPr lang="en-US"/>
          </a:p>
        </p:txBody>
      </p:sp>
    </p:spTree>
    <p:extLst>
      <p:ext uri="{BB962C8B-B14F-4D97-AF65-F5344CB8AC3E}">
        <p14:creationId xmlns:p14="http://schemas.microsoft.com/office/powerpoint/2010/main" val="342752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7EC3F0-01A0-7746-A51A-16DCBF5795DB}"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C5170-0858-C448-BB26-8FEE4EBA41F5}" type="slidenum">
              <a:rPr lang="en-US" smtClean="0"/>
              <a:t>‹#›</a:t>
            </a:fld>
            <a:endParaRPr lang="en-US"/>
          </a:p>
        </p:txBody>
      </p:sp>
    </p:spTree>
    <p:extLst>
      <p:ext uri="{BB962C8B-B14F-4D97-AF65-F5344CB8AC3E}">
        <p14:creationId xmlns:p14="http://schemas.microsoft.com/office/powerpoint/2010/main" val="356109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7EC3F0-01A0-7746-A51A-16DCBF5795DB}"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FC5170-0858-C448-BB26-8FEE4EBA41F5}" type="slidenum">
              <a:rPr lang="en-US" smtClean="0"/>
              <a:t>‹#›</a:t>
            </a:fld>
            <a:endParaRPr lang="en-US"/>
          </a:p>
        </p:txBody>
      </p:sp>
    </p:spTree>
    <p:extLst>
      <p:ext uri="{BB962C8B-B14F-4D97-AF65-F5344CB8AC3E}">
        <p14:creationId xmlns:p14="http://schemas.microsoft.com/office/powerpoint/2010/main" val="373916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7EC3F0-01A0-7746-A51A-16DCBF5795DB}" type="datetimeFigureOut">
              <a:rPr lang="en-US" smtClean="0"/>
              <a:t>3/22/26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FC5170-0858-C448-BB26-8FEE4EBA41F5}" type="slidenum">
              <a:rPr lang="en-US" smtClean="0"/>
              <a:t>‹#›</a:t>
            </a:fld>
            <a:endParaRPr lang="en-US"/>
          </a:p>
        </p:txBody>
      </p:sp>
    </p:spTree>
    <p:extLst>
      <p:ext uri="{BB962C8B-B14F-4D97-AF65-F5344CB8AC3E}">
        <p14:creationId xmlns:p14="http://schemas.microsoft.com/office/powerpoint/2010/main" val="1240423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7EC3F0-01A0-7746-A51A-16DCBF5795DB}" type="datetimeFigureOut">
              <a:rPr lang="en-US" smtClean="0"/>
              <a:t>3/22/26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FC5170-0858-C448-BB26-8FEE4EBA41F5}" type="slidenum">
              <a:rPr lang="en-US" smtClean="0"/>
              <a:t>‹#›</a:t>
            </a:fld>
            <a:endParaRPr lang="en-US"/>
          </a:p>
        </p:txBody>
      </p:sp>
    </p:spTree>
    <p:extLst>
      <p:ext uri="{BB962C8B-B14F-4D97-AF65-F5344CB8AC3E}">
        <p14:creationId xmlns:p14="http://schemas.microsoft.com/office/powerpoint/2010/main" val="173237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7EC3F0-01A0-7746-A51A-16DCBF5795DB}" type="datetimeFigureOut">
              <a:rPr lang="en-US" smtClean="0"/>
              <a:t>3/22/26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FC5170-0858-C448-BB26-8FEE4EBA41F5}" type="slidenum">
              <a:rPr lang="en-US" smtClean="0"/>
              <a:t>‹#›</a:t>
            </a:fld>
            <a:endParaRPr lang="en-US"/>
          </a:p>
        </p:txBody>
      </p:sp>
    </p:spTree>
    <p:extLst>
      <p:ext uri="{BB962C8B-B14F-4D97-AF65-F5344CB8AC3E}">
        <p14:creationId xmlns:p14="http://schemas.microsoft.com/office/powerpoint/2010/main" val="4015997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7EC3F0-01A0-7746-A51A-16DCBF5795DB}"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FC5170-0858-C448-BB26-8FEE4EBA41F5}" type="slidenum">
              <a:rPr lang="en-US" smtClean="0"/>
              <a:t>‹#›</a:t>
            </a:fld>
            <a:endParaRPr lang="en-US"/>
          </a:p>
        </p:txBody>
      </p:sp>
    </p:spTree>
    <p:extLst>
      <p:ext uri="{BB962C8B-B14F-4D97-AF65-F5344CB8AC3E}">
        <p14:creationId xmlns:p14="http://schemas.microsoft.com/office/powerpoint/2010/main" val="951125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7EC3F0-01A0-7746-A51A-16DCBF5795DB}"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FC5170-0858-C448-BB26-8FEE4EBA41F5}" type="slidenum">
              <a:rPr lang="en-US" smtClean="0"/>
              <a:t>‹#›</a:t>
            </a:fld>
            <a:endParaRPr lang="en-US"/>
          </a:p>
        </p:txBody>
      </p:sp>
    </p:spTree>
    <p:extLst>
      <p:ext uri="{BB962C8B-B14F-4D97-AF65-F5344CB8AC3E}">
        <p14:creationId xmlns:p14="http://schemas.microsoft.com/office/powerpoint/2010/main" val="4187759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7EC3F0-01A0-7746-A51A-16DCBF5795DB}"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C5170-0858-C448-BB26-8FEE4EBA41F5}" type="slidenum">
              <a:rPr lang="en-US" smtClean="0"/>
              <a:t>‹#›</a:t>
            </a:fld>
            <a:endParaRPr lang="en-US"/>
          </a:p>
        </p:txBody>
      </p:sp>
    </p:spTree>
    <p:extLst>
      <p:ext uri="{BB962C8B-B14F-4D97-AF65-F5344CB8AC3E}">
        <p14:creationId xmlns:p14="http://schemas.microsoft.com/office/powerpoint/2010/main" val="1740328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7EC3F0-01A0-7746-A51A-16DCBF5795DB}"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C5170-0858-C448-BB26-8FEE4EBA41F5}" type="slidenum">
              <a:rPr lang="en-US" smtClean="0"/>
              <a:t>‹#›</a:t>
            </a:fld>
            <a:endParaRPr lang="en-US"/>
          </a:p>
        </p:txBody>
      </p:sp>
    </p:spTree>
    <p:extLst>
      <p:ext uri="{BB962C8B-B14F-4D97-AF65-F5344CB8AC3E}">
        <p14:creationId xmlns:p14="http://schemas.microsoft.com/office/powerpoint/2010/main" val="3059607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7EC3F0-01A0-7746-A51A-16DCBF5795DB}" type="datetimeFigureOut">
              <a:rPr lang="en-US" smtClean="0"/>
              <a:t>3/22/26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FC5170-0858-C448-BB26-8FEE4EBA41F5}" type="slidenum">
              <a:rPr lang="en-US" smtClean="0"/>
              <a:t>‹#›</a:t>
            </a:fld>
            <a:endParaRPr lang="en-US"/>
          </a:p>
        </p:txBody>
      </p:sp>
    </p:spTree>
    <p:extLst>
      <p:ext uri="{BB962C8B-B14F-4D97-AF65-F5344CB8AC3E}">
        <p14:creationId xmlns:p14="http://schemas.microsoft.com/office/powerpoint/2010/main" val="227507160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45E20-4945-EE75-6A74-4E5335DE0DF5}"/>
              </a:ext>
            </a:extLst>
          </p:cNvPr>
          <p:cNvSpPr>
            <a:spLocks noGrp="1"/>
          </p:cNvSpPr>
          <p:nvPr>
            <p:ph type="ctrTitle"/>
          </p:nvPr>
        </p:nvSpPr>
        <p:spPr/>
        <p:txBody>
          <a:bodyPr/>
          <a:lstStyle/>
          <a:p>
            <a:r>
              <a:rPr lang="en-US" dirty="0"/>
              <a:t>OE3C Catering Order Estimate</a:t>
            </a:r>
          </a:p>
        </p:txBody>
      </p:sp>
      <p:sp>
        <p:nvSpPr>
          <p:cNvPr id="3" name="Subtitle 2">
            <a:extLst>
              <a:ext uri="{FF2B5EF4-FFF2-40B4-BE49-F238E27FC236}">
                <a16:creationId xmlns:a16="http://schemas.microsoft.com/office/drawing/2014/main" id="{C0376CEB-75E1-CE6D-6CCC-AF90443A5C54}"/>
              </a:ext>
            </a:extLst>
          </p:cNvPr>
          <p:cNvSpPr>
            <a:spLocks noGrp="1"/>
          </p:cNvSpPr>
          <p:nvPr>
            <p:ph type="subTitle" idx="1"/>
          </p:nvPr>
        </p:nvSpPr>
        <p:spPr/>
        <p:txBody>
          <a:bodyPr/>
          <a:lstStyle/>
          <a:p>
            <a:r>
              <a:rPr lang="en-US" dirty="0"/>
              <a:t>March 22 2026</a:t>
            </a:r>
          </a:p>
        </p:txBody>
      </p:sp>
    </p:spTree>
    <p:extLst>
      <p:ext uri="{BB962C8B-B14F-4D97-AF65-F5344CB8AC3E}">
        <p14:creationId xmlns:p14="http://schemas.microsoft.com/office/powerpoint/2010/main" val="3329560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1D4E8-6057-F0FB-FF04-081926C438CE}"/>
              </a:ext>
            </a:extLst>
          </p:cNvPr>
          <p:cNvSpPr>
            <a:spLocks noGrp="1"/>
          </p:cNvSpPr>
          <p:nvPr>
            <p:ph type="title"/>
          </p:nvPr>
        </p:nvSpPr>
        <p:spPr>
          <a:xfrm>
            <a:off x="-110358" y="643467"/>
            <a:ext cx="12302358" cy="744836"/>
          </a:xfrm>
          <a:solidFill>
            <a:schemeClr val="tx1"/>
          </a:solidFill>
        </p:spPr>
        <p:txBody>
          <a:bodyPr vert="horz" lIns="91440" tIns="45720" rIns="91440" bIns="45720" rtlCol="0" anchor="ctr">
            <a:normAutofit/>
          </a:bodyPr>
          <a:lstStyle/>
          <a:p>
            <a:pPr algn="ctr"/>
            <a:r>
              <a:rPr lang="en-US" sz="3200" kern="1200" dirty="0">
                <a:solidFill>
                  <a:schemeClr val="bg1"/>
                </a:solidFill>
                <a:latin typeface="+mj-lt"/>
                <a:ea typeface="+mj-ea"/>
                <a:cs typeface="+mj-cs"/>
              </a:rPr>
              <a:t>Thursday Breakfast</a:t>
            </a:r>
          </a:p>
        </p:txBody>
      </p:sp>
      <p:pic>
        <p:nvPicPr>
          <p:cNvPr id="18" name="Content Placeholder 17">
            <a:extLst>
              <a:ext uri="{FF2B5EF4-FFF2-40B4-BE49-F238E27FC236}">
                <a16:creationId xmlns:a16="http://schemas.microsoft.com/office/drawing/2014/main" id="{AB487EEF-38E3-06E2-7AC9-5A0E9E11DE47}"/>
              </a:ext>
            </a:extLst>
          </p:cNvPr>
          <p:cNvPicPr>
            <a:picLocks noGrp="1" noChangeAspect="1"/>
          </p:cNvPicPr>
          <p:nvPr>
            <p:ph idx="1"/>
          </p:nvPr>
        </p:nvPicPr>
        <p:blipFill>
          <a:blip r:embed="rId2"/>
          <a:stretch>
            <a:fillRect/>
          </a:stretch>
        </p:blipFill>
        <p:spPr>
          <a:xfrm>
            <a:off x="0" y="1565329"/>
            <a:ext cx="12192000" cy="4074474"/>
          </a:xfrm>
          <a:prstGeom prst="rect">
            <a:avLst/>
          </a:prstGeom>
        </p:spPr>
      </p:pic>
      <p:sp>
        <p:nvSpPr>
          <p:cNvPr id="6" name="Oval 5">
            <a:extLst>
              <a:ext uri="{FF2B5EF4-FFF2-40B4-BE49-F238E27FC236}">
                <a16:creationId xmlns:a16="http://schemas.microsoft.com/office/drawing/2014/main" id="{4BAB3FD9-07EB-4BFA-306F-6B67EBE3A59E}"/>
              </a:ext>
            </a:extLst>
          </p:cNvPr>
          <p:cNvSpPr/>
          <p:nvPr/>
        </p:nvSpPr>
        <p:spPr>
          <a:xfrm>
            <a:off x="1756230" y="2598057"/>
            <a:ext cx="10279252" cy="522514"/>
          </a:xfrm>
          <a:prstGeom prst="ellipse">
            <a:avLst/>
          </a:prstGeom>
          <a:noFill/>
          <a:ln w="38100">
            <a:solidFill>
              <a:srgbClr val="FC6A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D66740A-E72B-3FBF-AB57-1377C501E0A9}"/>
              </a:ext>
            </a:extLst>
          </p:cNvPr>
          <p:cNvSpPr txBox="1"/>
          <p:nvPr/>
        </p:nvSpPr>
        <p:spPr>
          <a:xfrm>
            <a:off x="232474" y="2402237"/>
            <a:ext cx="1704813" cy="1200329"/>
          </a:xfrm>
          <a:prstGeom prst="rect">
            <a:avLst/>
          </a:prstGeom>
          <a:solidFill>
            <a:schemeClr val="bg1"/>
          </a:solidFill>
          <a:ln w="28575">
            <a:solidFill>
              <a:srgbClr val="FC6ACD"/>
            </a:solidFill>
          </a:ln>
        </p:spPr>
        <p:txBody>
          <a:bodyPr wrap="square" rtlCol="0">
            <a:spAutoFit/>
          </a:bodyPr>
          <a:lstStyle/>
          <a:p>
            <a:r>
              <a:rPr lang="en-US" sz="1200" dirty="0"/>
              <a:t>Removed Cucumber mint water, most people don’t end up drinking the </a:t>
            </a:r>
            <a:r>
              <a:rPr lang="en-US" sz="1200" dirty="0" err="1"/>
              <a:t>flavoured</a:t>
            </a:r>
            <a:r>
              <a:rPr lang="en-US" sz="1200" dirty="0"/>
              <a:t> water and we have the refill stations </a:t>
            </a:r>
          </a:p>
        </p:txBody>
      </p:sp>
      <p:sp>
        <p:nvSpPr>
          <p:cNvPr id="8" name="TextBox 7">
            <a:extLst>
              <a:ext uri="{FF2B5EF4-FFF2-40B4-BE49-F238E27FC236}">
                <a16:creationId xmlns:a16="http://schemas.microsoft.com/office/drawing/2014/main" id="{FBB8D7BA-93A5-CAB8-9F45-54435AA3EA45}"/>
              </a:ext>
            </a:extLst>
          </p:cNvPr>
          <p:cNvSpPr txBox="1"/>
          <p:nvPr/>
        </p:nvSpPr>
        <p:spPr>
          <a:xfrm>
            <a:off x="7705123" y="5922145"/>
            <a:ext cx="4330359" cy="584775"/>
          </a:xfrm>
          <a:prstGeom prst="rect">
            <a:avLst/>
          </a:prstGeom>
          <a:solidFill>
            <a:schemeClr val="bg1"/>
          </a:solidFill>
          <a:ln w="28575">
            <a:solidFill>
              <a:srgbClr val="FC6ACD"/>
            </a:solidFill>
          </a:ln>
        </p:spPr>
        <p:txBody>
          <a:bodyPr wrap="square" rtlCol="0">
            <a:spAutoFit/>
          </a:bodyPr>
          <a:lstStyle/>
          <a:p>
            <a:r>
              <a:rPr lang="en-US" sz="1600" dirty="0"/>
              <a:t>Order Status turns green when total servings is within 10% of the estimated attendance  </a:t>
            </a:r>
          </a:p>
        </p:txBody>
      </p:sp>
      <p:sp>
        <p:nvSpPr>
          <p:cNvPr id="12" name="Rectangle 11">
            <a:extLst>
              <a:ext uri="{FF2B5EF4-FFF2-40B4-BE49-F238E27FC236}">
                <a16:creationId xmlns:a16="http://schemas.microsoft.com/office/drawing/2014/main" id="{20B1CC7D-3C6E-8E23-EA38-03EC42219174}"/>
              </a:ext>
            </a:extLst>
          </p:cNvPr>
          <p:cNvSpPr/>
          <p:nvPr/>
        </p:nvSpPr>
        <p:spPr>
          <a:xfrm>
            <a:off x="8803037" y="4897464"/>
            <a:ext cx="433953" cy="2789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A20433B-0371-C58C-09FD-88E942E3776F}"/>
              </a:ext>
            </a:extLst>
          </p:cNvPr>
          <p:cNvSpPr txBox="1"/>
          <p:nvPr/>
        </p:nvSpPr>
        <p:spPr>
          <a:xfrm>
            <a:off x="8847414" y="4751021"/>
            <a:ext cx="883404" cy="707886"/>
          </a:xfrm>
          <a:prstGeom prst="rect">
            <a:avLst/>
          </a:prstGeom>
          <a:noFill/>
        </p:spPr>
        <p:txBody>
          <a:bodyPr wrap="square" rtlCol="0">
            <a:spAutoFit/>
          </a:bodyPr>
          <a:lstStyle/>
          <a:p>
            <a:r>
              <a:rPr lang="en-US" sz="4000" b="1" dirty="0">
                <a:solidFill>
                  <a:srgbClr val="FC6ACD"/>
                </a:solidFill>
              </a:rPr>
              <a:t>*</a:t>
            </a:r>
            <a:endParaRPr lang="en-US" b="1" dirty="0">
              <a:solidFill>
                <a:srgbClr val="FC6ACD"/>
              </a:solidFill>
            </a:endParaRPr>
          </a:p>
        </p:txBody>
      </p:sp>
      <p:sp>
        <p:nvSpPr>
          <p:cNvPr id="11" name="TextBox 10">
            <a:extLst>
              <a:ext uri="{FF2B5EF4-FFF2-40B4-BE49-F238E27FC236}">
                <a16:creationId xmlns:a16="http://schemas.microsoft.com/office/drawing/2014/main" id="{31EF0073-2E68-103C-4F5E-446084293AFD}"/>
              </a:ext>
            </a:extLst>
          </p:cNvPr>
          <p:cNvSpPr txBox="1"/>
          <p:nvPr/>
        </p:nvSpPr>
        <p:spPr>
          <a:xfrm>
            <a:off x="7263421" y="5703554"/>
            <a:ext cx="883404" cy="707886"/>
          </a:xfrm>
          <a:prstGeom prst="rect">
            <a:avLst/>
          </a:prstGeom>
          <a:noFill/>
        </p:spPr>
        <p:txBody>
          <a:bodyPr wrap="square" rtlCol="0">
            <a:spAutoFit/>
          </a:bodyPr>
          <a:lstStyle/>
          <a:p>
            <a:r>
              <a:rPr lang="en-US" sz="4000" b="1" dirty="0">
                <a:solidFill>
                  <a:srgbClr val="FC6ACD"/>
                </a:solidFill>
              </a:rPr>
              <a:t>*</a:t>
            </a:r>
            <a:endParaRPr lang="en-US" b="1" dirty="0">
              <a:solidFill>
                <a:srgbClr val="FC6ACD"/>
              </a:solidFill>
            </a:endParaRPr>
          </a:p>
        </p:txBody>
      </p:sp>
      <p:sp>
        <p:nvSpPr>
          <p:cNvPr id="13" name="Oval 12">
            <a:extLst>
              <a:ext uri="{FF2B5EF4-FFF2-40B4-BE49-F238E27FC236}">
                <a16:creationId xmlns:a16="http://schemas.microsoft.com/office/drawing/2014/main" id="{1A136E11-426A-374A-E59E-61AE84B3EE3E}"/>
              </a:ext>
            </a:extLst>
          </p:cNvPr>
          <p:cNvSpPr/>
          <p:nvPr/>
        </p:nvSpPr>
        <p:spPr>
          <a:xfrm>
            <a:off x="7276531" y="3959406"/>
            <a:ext cx="948756" cy="522514"/>
          </a:xfrm>
          <a:prstGeom prst="ellipse">
            <a:avLst/>
          </a:prstGeom>
          <a:noFill/>
          <a:ln w="38100">
            <a:solidFill>
              <a:srgbClr val="FC6A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CDFAD37-15FB-C2AB-1FA0-2B965D5EC268}"/>
              </a:ext>
            </a:extLst>
          </p:cNvPr>
          <p:cNvSpPr txBox="1"/>
          <p:nvPr/>
        </p:nvSpPr>
        <p:spPr>
          <a:xfrm>
            <a:off x="4954240" y="3790606"/>
            <a:ext cx="2062599" cy="646331"/>
          </a:xfrm>
          <a:prstGeom prst="rect">
            <a:avLst/>
          </a:prstGeom>
          <a:solidFill>
            <a:schemeClr val="bg1"/>
          </a:solidFill>
          <a:ln w="28575">
            <a:solidFill>
              <a:srgbClr val="FC6ACD"/>
            </a:solidFill>
          </a:ln>
        </p:spPr>
        <p:txBody>
          <a:bodyPr wrap="square" rtlCol="0">
            <a:spAutoFit/>
          </a:bodyPr>
          <a:lstStyle/>
          <a:p>
            <a:r>
              <a:rPr lang="en-US" sz="1200" dirty="0"/>
              <a:t>Total servings are based on the most limiting food item (Excluding cheese) </a:t>
            </a:r>
          </a:p>
        </p:txBody>
      </p:sp>
      <p:sp>
        <p:nvSpPr>
          <p:cNvPr id="19" name="Oval 18">
            <a:extLst>
              <a:ext uri="{FF2B5EF4-FFF2-40B4-BE49-F238E27FC236}">
                <a16:creationId xmlns:a16="http://schemas.microsoft.com/office/drawing/2014/main" id="{BE36DC18-AC03-A837-963B-CADA60F3CFBB}"/>
              </a:ext>
            </a:extLst>
          </p:cNvPr>
          <p:cNvSpPr/>
          <p:nvPr/>
        </p:nvSpPr>
        <p:spPr>
          <a:xfrm>
            <a:off x="1756230" y="5165029"/>
            <a:ext cx="6469057" cy="522514"/>
          </a:xfrm>
          <a:prstGeom prst="ellipse">
            <a:avLst/>
          </a:prstGeom>
          <a:noFill/>
          <a:ln w="38100">
            <a:solidFill>
              <a:srgbClr val="FC6A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2540346-75B3-4D3D-DA5B-C1680375C2BE}"/>
              </a:ext>
            </a:extLst>
          </p:cNvPr>
          <p:cNvSpPr txBox="1"/>
          <p:nvPr/>
        </p:nvSpPr>
        <p:spPr>
          <a:xfrm>
            <a:off x="441434" y="5675923"/>
            <a:ext cx="2065283" cy="830997"/>
          </a:xfrm>
          <a:prstGeom prst="rect">
            <a:avLst/>
          </a:prstGeom>
          <a:solidFill>
            <a:schemeClr val="bg1"/>
          </a:solidFill>
          <a:ln w="28575">
            <a:solidFill>
              <a:srgbClr val="FC6ACD"/>
            </a:solidFill>
          </a:ln>
        </p:spPr>
        <p:txBody>
          <a:bodyPr wrap="square" rtlCol="0">
            <a:spAutoFit/>
          </a:bodyPr>
          <a:lstStyle/>
          <a:p>
            <a:r>
              <a:rPr lang="en-US" sz="1200" dirty="0"/>
              <a:t>Estimated 200 total guests but only 160 paying guests, estimated $160 per paying guest</a:t>
            </a:r>
          </a:p>
        </p:txBody>
      </p:sp>
      <p:sp>
        <p:nvSpPr>
          <p:cNvPr id="21" name="Oval 20">
            <a:extLst>
              <a:ext uri="{FF2B5EF4-FFF2-40B4-BE49-F238E27FC236}">
                <a16:creationId xmlns:a16="http://schemas.microsoft.com/office/drawing/2014/main" id="{C7C0881C-3E92-35D8-4FA9-D2E60F6AE931}"/>
              </a:ext>
            </a:extLst>
          </p:cNvPr>
          <p:cNvSpPr/>
          <p:nvPr/>
        </p:nvSpPr>
        <p:spPr>
          <a:xfrm>
            <a:off x="9870302" y="1517589"/>
            <a:ext cx="2321698" cy="522514"/>
          </a:xfrm>
          <a:prstGeom prst="ellipse">
            <a:avLst/>
          </a:prstGeom>
          <a:noFill/>
          <a:ln w="38100">
            <a:solidFill>
              <a:srgbClr val="FC6A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602DB21-2A0E-3186-19A8-A917037D5207}"/>
              </a:ext>
            </a:extLst>
          </p:cNvPr>
          <p:cNvSpPr txBox="1"/>
          <p:nvPr/>
        </p:nvSpPr>
        <p:spPr>
          <a:xfrm>
            <a:off x="9595439" y="1129098"/>
            <a:ext cx="2321697" cy="307777"/>
          </a:xfrm>
          <a:prstGeom prst="rect">
            <a:avLst/>
          </a:prstGeom>
          <a:solidFill>
            <a:schemeClr val="bg1"/>
          </a:solidFill>
          <a:ln w="28575">
            <a:solidFill>
              <a:srgbClr val="FC6ACD"/>
            </a:solidFill>
          </a:ln>
        </p:spPr>
        <p:txBody>
          <a:bodyPr wrap="square" rtlCol="0">
            <a:spAutoFit/>
          </a:bodyPr>
          <a:lstStyle/>
          <a:p>
            <a:r>
              <a:rPr lang="en-US" sz="1400" dirty="0"/>
              <a:t>Most expensive item is red</a:t>
            </a:r>
          </a:p>
        </p:txBody>
      </p:sp>
    </p:spTree>
    <p:extLst>
      <p:ext uri="{BB962C8B-B14F-4D97-AF65-F5344CB8AC3E}">
        <p14:creationId xmlns:p14="http://schemas.microsoft.com/office/powerpoint/2010/main" val="3596251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7036E0-4540-BA83-13DA-3A9847C7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213A4-515A-4216-BDB3-34397C7E48C9}"/>
              </a:ext>
            </a:extLst>
          </p:cNvPr>
          <p:cNvSpPr>
            <a:spLocks noGrp="1"/>
          </p:cNvSpPr>
          <p:nvPr>
            <p:ph type="title"/>
          </p:nvPr>
        </p:nvSpPr>
        <p:spPr>
          <a:xfrm>
            <a:off x="0" y="643467"/>
            <a:ext cx="12344400" cy="744836"/>
          </a:xfrm>
          <a:solidFill>
            <a:schemeClr val="tx1"/>
          </a:solidFill>
        </p:spPr>
        <p:txBody>
          <a:bodyPr vert="horz" lIns="91440" tIns="45720" rIns="91440" bIns="45720" rtlCol="0" anchor="ctr">
            <a:normAutofit/>
          </a:bodyPr>
          <a:lstStyle/>
          <a:p>
            <a:pPr algn="ctr"/>
            <a:r>
              <a:rPr lang="en-US" sz="3200" kern="1200" dirty="0">
                <a:solidFill>
                  <a:schemeClr val="bg1"/>
                </a:solidFill>
                <a:latin typeface="+mj-lt"/>
                <a:ea typeface="+mj-ea"/>
                <a:cs typeface="+mj-cs"/>
              </a:rPr>
              <a:t>Thursday Breakfast</a:t>
            </a:r>
          </a:p>
        </p:txBody>
      </p:sp>
      <p:pic>
        <p:nvPicPr>
          <p:cNvPr id="18" name="Content Placeholder 17">
            <a:extLst>
              <a:ext uri="{FF2B5EF4-FFF2-40B4-BE49-F238E27FC236}">
                <a16:creationId xmlns:a16="http://schemas.microsoft.com/office/drawing/2014/main" id="{A76B404F-DF70-F20B-E48B-D31EC8CD4F1F}"/>
              </a:ext>
            </a:extLst>
          </p:cNvPr>
          <p:cNvPicPr>
            <a:picLocks noGrp="1" noChangeAspect="1"/>
          </p:cNvPicPr>
          <p:nvPr>
            <p:ph idx="1"/>
          </p:nvPr>
        </p:nvPicPr>
        <p:blipFill>
          <a:blip r:embed="rId2"/>
          <a:stretch>
            <a:fillRect/>
          </a:stretch>
        </p:blipFill>
        <p:spPr>
          <a:xfrm>
            <a:off x="0" y="1565329"/>
            <a:ext cx="12192000" cy="4074474"/>
          </a:xfrm>
          <a:prstGeom prst="rect">
            <a:avLst/>
          </a:prstGeom>
        </p:spPr>
      </p:pic>
    </p:spTree>
    <p:extLst>
      <p:ext uri="{BB962C8B-B14F-4D97-AF65-F5344CB8AC3E}">
        <p14:creationId xmlns:p14="http://schemas.microsoft.com/office/powerpoint/2010/main" val="2501962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B7F9B1-3EBF-7461-25F7-844CEEB48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A281B-753A-BB38-6367-013799A42A64}"/>
              </a:ext>
            </a:extLst>
          </p:cNvPr>
          <p:cNvSpPr>
            <a:spLocks noGrp="1"/>
          </p:cNvSpPr>
          <p:nvPr>
            <p:ph type="title"/>
          </p:nvPr>
        </p:nvSpPr>
        <p:spPr>
          <a:xfrm>
            <a:off x="-315310" y="643467"/>
            <a:ext cx="12864662" cy="744836"/>
          </a:xfrm>
          <a:solidFill>
            <a:schemeClr val="tx1"/>
          </a:solidFill>
          <a:ln>
            <a:noFill/>
          </a:ln>
        </p:spPr>
        <p:txBody>
          <a:bodyPr vert="horz" lIns="91440" tIns="45720" rIns="91440" bIns="45720" rtlCol="0" anchor="ctr">
            <a:normAutofit/>
          </a:bodyPr>
          <a:lstStyle/>
          <a:p>
            <a:pPr algn="ctr"/>
            <a:r>
              <a:rPr lang="en-US" sz="3200" kern="1200" dirty="0">
                <a:solidFill>
                  <a:schemeClr val="bg1"/>
                </a:solidFill>
                <a:latin typeface="+mj-lt"/>
                <a:ea typeface="+mj-ea"/>
                <a:cs typeface="+mj-cs"/>
              </a:rPr>
              <a:t>Thursday Keynote Reception</a:t>
            </a:r>
          </a:p>
        </p:txBody>
      </p:sp>
      <p:pic>
        <p:nvPicPr>
          <p:cNvPr id="11" name="Content Placeholder 10">
            <a:extLst>
              <a:ext uri="{FF2B5EF4-FFF2-40B4-BE49-F238E27FC236}">
                <a16:creationId xmlns:a16="http://schemas.microsoft.com/office/drawing/2014/main" id="{5AF55ED7-8E65-2D3C-CA6D-D9C45C21AE20}"/>
              </a:ext>
            </a:extLst>
          </p:cNvPr>
          <p:cNvPicPr>
            <a:picLocks noGrp="1" noChangeAspect="1"/>
          </p:cNvPicPr>
          <p:nvPr>
            <p:ph idx="1"/>
          </p:nvPr>
        </p:nvPicPr>
        <p:blipFill>
          <a:blip r:embed="rId2"/>
          <a:stretch>
            <a:fillRect/>
          </a:stretch>
        </p:blipFill>
        <p:spPr>
          <a:xfrm>
            <a:off x="1461948" y="1825625"/>
            <a:ext cx="9268104" cy="4351338"/>
          </a:xfrm>
          <a:prstGeom prst="rect">
            <a:avLst/>
          </a:prstGeom>
        </p:spPr>
      </p:pic>
    </p:spTree>
    <p:extLst>
      <p:ext uri="{BB962C8B-B14F-4D97-AF65-F5344CB8AC3E}">
        <p14:creationId xmlns:p14="http://schemas.microsoft.com/office/powerpoint/2010/main" val="3894525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312D31-2BC8-AE19-C871-10C309E53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7EBD68-B27A-2111-3366-DCCDD8C921AB}"/>
              </a:ext>
            </a:extLst>
          </p:cNvPr>
          <p:cNvSpPr>
            <a:spLocks noGrp="1"/>
          </p:cNvSpPr>
          <p:nvPr>
            <p:ph type="title"/>
          </p:nvPr>
        </p:nvSpPr>
        <p:spPr>
          <a:xfrm>
            <a:off x="-157655" y="643467"/>
            <a:ext cx="12596647" cy="744836"/>
          </a:xfrm>
          <a:solidFill>
            <a:schemeClr val="tx1"/>
          </a:solidFill>
        </p:spPr>
        <p:txBody>
          <a:bodyPr vert="horz" lIns="91440" tIns="45720" rIns="91440" bIns="45720" rtlCol="0" anchor="ctr">
            <a:normAutofit/>
          </a:bodyPr>
          <a:lstStyle/>
          <a:p>
            <a:pPr algn="ctr"/>
            <a:r>
              <a:rPr lang="en-US" sz="3200" kern="1200" dirty="0">
                <a:solidFill>
                  <a:schemeClr val="bg1"/>
                </a:solidFill>
                <a:latin typeface="+mj-lt"/>
                <a:ea typeface="+mj-ea"/>
                <a:cs typeface="+mj-cs"/>
              </a:rPr>
              <a:t>Friday Breakfast</a:t>
            </a:r>
          </a:p>
        </p:txBody>
      </p:sp>
      <p:pic>
        <p:nvPicPr>
          <p:cNvPr id="6" name="Content Placeholder 5">
            <a:extLst>
              <a:ext uri="{FF2B5EF4-FFF2-40B4-BE49-F238E27FC236}">
                <a16:creationId xmlns:a16="http://schemas.microsoft.com/office/drawing/2014/main" id="{ABEB4597-9538-DF18-7505-662E62964627}"/>
              </a:ext>
            </a:extLst>
          </p:cNvPr>
          <p:cNvPicPr>
            <a:picLocks noGrp="1" noChangeAspect="1"/>
          </p:cNvPicPr>
          <p:nvPr>
            <p:ph idx="1"/>
          </p:nvPr>
        </p:nvPicPr>
        <p:blipFill>
          <a:blip r:embed="rId2"/>
          <a:srcRect t="9387"/>
          <a:stretch>
            <a:fillRect/>
          </a:stretch>
        </p:blipFill>
        <p:spPr>
          <a:xfrm>
            <a:off x="49080" y="1781896"/>
            <a:ext cx="12093839" cy="4303594"/>
          </a:xfrm>
          <a:prstGeom prst="rect">
            <a:avLst/>
          </a:prstGeom>
        </p:spPr>
      </p:pic>
    </p:spTree>
    <p:extLst>
      <p:ext uri="{BB962C8B-B14F-4D97-AF65-F5344CB8AC3E}">
        <p14:creationId xmlns:p14="http://schemas.microsoft.com/office/powerpoint/2010/main" val="3559874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721389-1641-6481-418D-7C64B661F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641F7-25CB-9F80-16E1-422697C539B6}"/>
              </a:ext>
            </a:extLst>
          </p:cNvPr>
          <p:cNvSpPr>
            <a:spLocks noGrp="1"/>
          </p:cNvSpPr>
          <p:nvPr>
            <p:ph type="title"/>
          </p:nvPr>
        </p:nvSpPr>
        <p:spPr>
          <a:xfrm>
            <a:off x="-280463" y="643467"/>
            <a:ext cx="12719455" cy="744836"/>
          </a:xfrm>
          <a:solidFill>
            <a:schemeClr val="tx1"/>
          </a:solidFill>
        </p:spPr>
        <p:txBody>
          <a:bodyPr vert="horz" lIns="91440" tIns="45720" rIns="91440" bIns="45720" rtlCol="0" anchor="ctr">
            <a:normAutofit/>
          </a:bodyPr>
          <a:lstStyle/>
          <a:p>
            <a:pPr algn="ctr"/>
            <a:r>
              <a:rPr lang="en-US" sz="3200" kern="1200" dirty="0">
                <a:solidFill>
                  <a:schemeClr val="bg1"/>
                </a:solidFill>
                <a:latin typeface="+mj-lt"/>
                <a:ea typeface="+mj-ea"/>
                <a:cs typeface="+mj-cs"/>
              </a:rPr>
              <a:t>Friday Break</a:t>
            </a:r>
          </a:p>
        </p:txBody>
      </p:sp>
      <p:sp>
        <p:nvSpPr>
          <p:cNvPr id="7" name="TextBox 6">
            <a:extLst>
              <a:ext uri="{FF2B5EF4-FFF2-40B4-BE49-F238E27FC236}">
                <a16:creationId xmlns:a16="http://schemas.microsoft.com/office/drawing/2014/main" id="{0D57A210-8865-BC95-5F74-5E1C26AE14DB}"/>
              </a:ext>
            </a:extLst>
          </p:cNvPr>
          <p:cNvSpPr txBox="1"/>
          <p:nvPr/>
        </p:nvSpPr>
        <p:spPr>
          <a:xfrm>
            <a:off x="778069" y="6120589"/>
            <a:ext cx="10767849" cy="584775"/>
          </a:xfrm>
          <a:prstGeom prst="rect">
            <a:avLst/>
          </a:prstGeom>
          <a:solidFill>
            <a:schemeClr val="bg1"/>
          </a:solidFill>
          <a:ln w="28575">
            <a:solidFill>
              <a:srgbClr val="FC6ACD"/>
            </a:solidFill>
          </a:ln>
        </p:spPr>
        <p:txBody>
          <a:bodyPr wrap="square" rtlCol="0">
            <a:spAutoFit/>
          </a:bodyPr>
          <a:lstStyle/>
          <a:p>
            <a:r>
              <a:rPr lang="en-US" sz="1600" dirty="0"/>
              <a:t>When there is something else with fruit, we assume fruit will serve 18 people and not 12. Cheese is too expensive to give full servings to each person, so we assume cheese feeds 24. </a:t>
            </a:r>
          </a:p>
        </p:txBody>
      </p:sp>
      <p:pic>
        <p:nvPicPr>
          <p:cNvPr id="9" name="Picture 8">
            <a:extLst>
              <a:ext uri="{FF2B5EF4-FFF2-40B4-BE49-F238E27FC236}">
                <a16:creationId xmlns:a16="http://schemas.microsoft.com/office/drawing/2014/main" id="{FBF7070F-7B3C-E8B9-8EF0-B27F36B3B6D9}"/>
              </a:ext>
            </a:extLst>
          </p:cNvPr>
          <p:cNvPicPr>
            <a:picLocks noChangeAspect="1"/>
          </p:cNvPicPr>
          <p:nvPr/>
        </p:nvPicPr>
        <p:blipFill>
          <a:blip r:embed="rId2"/>
          <a:stretch>
            <a:fillRect/>
          </a:stretch>
        </p:blipFill>
        <p:spPr>
          <a:xfrm>
            <a:off x="72039" y="1527723"/>
            <a:ext cx="12047921" cy="4514038"/>
          </a:xfrm>
          <a:prstGeom prst="rect">
            <a:avLst/>
          </a:prstGeom>
        </p:spPr>
      </p:pic>
    </p:spTree>
    <p:extLst>
      <p:ext uri="{BB962C8B-B14F-4D97-AF65-F5344CB8AC3E}">
        <p14:creationId xmlns:p14="http://schemas.microsoft.com/office/powerpoint/2010/main" val="2291734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D78A32-8E3C-7407-2113-DF379A8E7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BD013-BB85-7AE6-AD33-D23AA7C01FB9}"/>
              </a:ext>
            </a:extLst>
          </p:cNvPr>
          <p:cNvSpPr>
            <a:spLocks noGrp="1"/>
          </p:cNvSpPr>
          <p:nvPr>
            <p:ph type="title"/>
          </p:nvPr>
        </p:nvSpPr>
        <p:spPr>
          <a:xfrm>
            <a:off x="-173421" y="643467"/>
            <a:ext cx="12486289" cy="744836"/>
          </a:xfrm>
          <a:solidFill>
            <a:schemeClr val="tx1"/>
          </a:solidFill>
        </p:spPr>
        <p:txBody>
          <a:bodyPr vert="horz" lIns="91440" tIns="45720" rIns="91440" bIns="45720" rtlCol="0" anchor="ctr">
            <a:normAutofit/>
          </a:bodyPr>
          <a:lstStyle/>
          <a:p>
            <a:pPr algn="ctr"/>
            <a:r>
              <a:rPr lang="en-US" sz="3200" kern="1200" dirty="0">
                <a:solidFill>
                  <a:schemeClr val="bg1"/>
                </a:solidFill>
                <a:latin typeface="+mj-lt"/>
                <a:ea typeface="+mj-ea"/>
                <a:cs typeface="+mj-cs"/>
              </a:rPr>
              <a:t>Friday Posters</a:t>
            </a:r>
          </a:p>
        </p:txBody>
      </p:sp>
      <p:pic>
        <p:nvPicPr>
          <p:cNvPr id="12" name="Content Placeholder 11">
            <a:extLst>
              <a:ext uri="{FF2B5EF4-FFF2-40B4-BE49-F238E27FC236}">
                <a16:creationId xmlns:a16="http://schemas.microsoft.com/office/drawing/2014/main" id="{1018BD81-D9C2-960C-480C-F41DC79D9658}"/>
              </a:ext>
            </a:extLst>
          </p:cNvPr>
          <p:cNvPicPr>
            <a:picLocks noGrp="1" noChangeAspect="1"/>
          </p:cNvPicPr>
          <p:nvPr>
            <p:ph idx="1"/>
          </p:nvPr>
        </p:nvPicPr>
        <p:blipFill>
          <a:blip r:embed="rId2"/>
          <a:stretch>
            <a:fillRect/>
          </a:stretch>
        </p:blipFill>
        <p:spPr>
          <a:xfrm>
            <a:off x="1704265" y="1825625"/>
            <a:ext cx="8783470" cy="4351338"/>
          </a:xfrm>
          <a:prstGeom prst="rect">
            <a:avLst/>
          </a:prstGeom>
        </p:spPr>
      </p:pic>
      <p:sp>
        <p:nvSpPr>
          <p:cNvPr id="7" name="TextBox 6">
            <a:extLst>
              <a:ext uri="{FF2B5EF4-FFF2-40B4-BE49-F238E27FC236}">
                <a16:creationId xmlns:a16="http://schemas.microsoft.com/office/drawing/2014/main" id="{8FE1493A-6C1B-C5B7-E74C-C9E8C3528CC3}"/>
              </a:ext>
            </a:extLst>
          </p:cNvPr>
          <p:cNvSpPr txBox="1"/>
          <p:nvPr/>
        </p:nvSpPr>
        <p:spPr>
          <a:xfrm>
            <a:off x="424543" y="3439724"/>
            <a:ext cx="1530381" cy="2123658"/>
          </a:xfrm>
          <a:prstGeom prst="rect">
            <a:avLst/>
          </a:prstGeom>
          <a:solidFill>
            <a:schemeClr val="bg1"/>
          </a:solidFill>
          <a:ln w="28575">
            <a:solidFill>
              <a:srgbClr val="FC6ACD"/>
            </a:solidFill>
          </a:ln>
        </p:spPr>
        <p:txBody>
          <a:bodyPr wrap="square" rtlCol="0">
            <a:spAutoFit/>
          </a:bodyPr>
          <a:lstStyle/>
          <a:p>
            <a:r>
              <a:rPr lang="en-US" sz="1200" dirty="0"/>
              <a:t>Here I combined the Danishes and cookies  so its like a one or the other. Refreshment monitors will have the awkward job of telling people not to take too much food, there will also be signs</a:t>
            </a:r>
          </a:p>
        </p:txBody>
      </p:sp>
    </p:spTree>
    <p:extLst>
      <p:ext uri="{BB962C8B-B14F-4D97-AF65-F5344CB8AC3E}">
        <p14:creationId xmlns:p14="http://schemas.microsoft.com/office/powerpoint/2010/main" val="552444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476ECA-9539-952A-39AD-C00ABAE3AC8E}"/>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A15AAE-74AD-6902-1F64-157EEF97A40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Saturday Breakfast</a:t>
            </a:r>
          </a:p>
        </p:txBody>
      </p:sp>
      <p:pic>
        <p:nvPicPr>
          <p:cNvPr id="6" name="Content Placeholder 5">
            <a:extLst>
              <a:ext uri="{FF2B5EF4-FFF2-40B4-BE49-F238E27FC236}">
                <a16:creationId xmlns:a16="http://schemas.microsoft.com/office/drawing/2014/main" id="{9F21080A-F4C3-3341-43E8-F5F7CA4D435D}"/>
              </a:ext>
            </a:extLst>
          </p:cNvPr>
          <p:cNvPicPr>
            <a:picLocks noGrp="1" noChangeAspect="1"/>
          </p:cNvPicPr>
          <p:nvPr>
            <p:ph idx="1"/>
          </p:nvPr>
        </p:nvPicPr>
        <p:blipFill>
          <a:blip r:embed="rId2"/>
          <a:stretch>
            <a:fillRect/>
          </a:stretch>
        </p:blipFill>
        <p:spPr>
          <a:xfrm>
            <a:off x="704343" y="1675227"/>
            <a:ext cx="10783314" cy="4394199"/>
          </a:xfrm>
          <a:prstGeom prst="rect">
            <a:avLst/>
          </a:prstGeom>
        </p:spPr>
      </p:pic>
    </p:spTree>
    <p:extLst>
      <p:ext uri="{BB962C8B-B14F-4D97-AF65-F5344CB8AC3E}">
        <p14:creationId xmlns:p14="http://schemas.microsoft.com/office/powerpoint/2010/main" val="2982252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F13319-3C60-9215-644A-A255C6C5C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10980-5F31-31F9-B033-A71068026AC8}"/>
              </a:ext>
            </a:extLst>
          </p:cNvPr>
          <p:cNvSpPr>
            <a:spLocks noGrp="1"/>
          </p:cNvSpPr>
          <p:nvPr>
            <p:ph type="title"/>
          </p:nvPr>
        </p:nvSpPr>
        <p:spPr>
          <a:xfrm>
            <a:off x="-30950" y="643467"/>
            <a:ext cx="12343819" cy="744836"/>
          </a:xfrm>
          <a:solidFill>
            <a:schemeClr val="tx1"/>
          </a:solidFill>
        </p:spPr>
        <p:txBody>
          <a:bodyPr vert="horz" lIns="91440" tIns="45720" rIns="91440" bIns="45720" rtlCol="0" anchor="ctr">
            <a:normAutofit/>
          </a:bodyPr>
          <a:lstStyle/>
          <a:p>
            <a:pPr algn="ctr"/>
            <a:r>
              <a:rPr lang="en-US" sz="3200" kern="1200" dirty="0">
                <a:solidFill>
                  <a:schemeClr val="bg1"/>
                </a:solidFill>
                <a:latin typeface="+mj-lt"/>
                <a:ea typeface="+mj-ea"/>
                <a:cs typeface="+mj-cs"/>
              </a:rPr>
              <a:t>Saturday Break</a:t>
            </a:r>
          </a:p>
        </p:txBody>
      </p:sp>
      <p:pic>
        <p:nvPicPr>
          <p:cNvPr id="6" name="Content Placeholder 5">
            <a:extLst>
              <a:ext uri="{FF2B5EF4-FFF2-40B4-BE49-F238E27FC236}">
                <a16:creationId xmlns:a16="http://schemas.microsoft.com/office/drawing/2014/main" id="{930DEA14-5634-10B8-F02A-372AEE4D8821}"/>
              </a:ext>
            </a:extLst>
          </p:cNvPr>
          <p:cNvPicPr>
            <a:picLocks noGrp="1" noChangeAspect="1"/>
          </p:cNvPicPr>
          <p:nvPr>
            <p:ph idx="1"/>
          </p:nvPr>
        </p:nvPicPr>
        <p:blipFill>
          <a:blip r:embed="rId3"/>
          <a:stretch>
            <a:fillRect/>
          </a:stretch>
        </p:blipFill>
        <p:spPr>
          <a:xfrm>
            <a:off x="262790" y="1396588"/>
            <a:ext cx="11798408" cy="4633383"/>
          </a:xfrm>
          <a:prstGeom prst="rect">
            <a:avLst/>
          </a:prstGeom>
        </p:spPr>
      </p:pic>
      <p:sp>
        <p:nvSpPr>
          <p:cNvPr id="7" name="TextBox 6">
            <a:extLst>
              <a:ext uri="{FF2B5EF4-FFF2-40B4-BE49-F238E27FC236}">
                <a16:creationId xmlns:a16="http://schemas.microsoft.com/office/drawing/2014/main" id="{FB800A2E-9E58-9BA0-F9DD-4362A0B6E8D3}"/>
              </a:ext>
            </a:extLst>
          </p:cNvPr>
          <p:cNvSpPr txBox="1"/>
          <p:nvPr/>
        </p:nvSpPr>
        <p:spPr>
          <a:xfrm>
            <a:off x="1216283" y="6206248"/>
            <a:ext cx="10245247" cy="523220"/>
          </a:xfrm>
          <a:prstGeom prst="rect">
            <a:avLst/>
          </a:prstGeom>
          <a:solidFill>
            <a:schemeClr val="bg1"/>
          </a:solidFill>
          <a:ln w="28575">
            <a:solidFill>
              <a:srgbClr val="FC6ACD"/>
            </a:solidFill>
          </a:ln>
        </p:spPr>
        <p:txBody>
          <a:bodyPr wrap="square" rtlCol="0">
            <a:spAutoFit/>
          </a:bodyPr>
          <a:lstStyle/>
          <a:p>
            <a:r>
              <a:rPr lang="en-US" sz="1400" dirty="0"/>
              <a:t>Please note this is between concurrent sessions and any extras will be brought to the poster session. Poster session will not have a coffee break as it immediately follows lunch and precedes the closing ceremonies and final keynote which has refreshments </a:t>
            </a:r>
          </a:p>
        </p:txBody>
      </p:sp>
    </p:spTree>
    <p:extLst>
      <p:ext uri="{BB962C8B-B14F-4D97-AF65-F5344CB8AC3E}">
        <p14:creationId xmlns:p14="http://schemas.microsoft.com/office/powerpoint/2010/main" val="1890454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E83F46-C01D-CE9C-82CA-4E7EE6E04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E7533-D05F-D9C6-0911-A7CF0DD59DF1}"/>
              </a:ext>
            </a:extLst>
          </p:cNvPr>
          <p:cNvSpPr>
            <a:spLocks noGrp="1"/>
          </p:cNvSpPr>
          <p:nvPr>
            <p:ph type="title"/>
          </p:nvPr>
        </p:nvSpPr>
        <p:spPr>
          <a:xfrm>
            <a:off x="0" y="643467"/>
            <a:ext cx="12192000" cy="744836"/>
          </a:xfrm>
          <a:solidFill>
            <a:schemeClr val="tx1"/>
          </a:solidFill>
          <a:ln>
            <a:noFill/>
          </a:ln>
        </p:spPr>
        <p:txBody>
          <a:bodyPr vert="horz" lIns="91440" tIns="45720" rIns="91440" bIns="45720" rtlCol="0" anchor="ctr">
            <a:normAutofit/>
          </a:bodyPr>
          <a:lstStyle/>
          <a:p>
            <a:pPr algn="ctr"/>
            <a:r>
              <a:rPr lang="en-US" sz="3200" kern="1200" dirty="0">
                <a:solidFill>
                  <a:schemeClr val="bg1"/>
                </a:solidFill>
                <a:latin typeface="+mj-lt"/>
                <a:ea typeface="+mj-ea"/>
                <a:cs typeface="+mj-cs"/>
              </a:rPr>
              <a:t>Saturday Closing Ceremonies</a:t>
            </a:r>
          </a:p>
        </p:txBody>
      </p:sp>
      <p:pic>
        <p:nvPicPr>
          <p:cNvPr id="6" name="Content Placeholder 5">
            <a:extLst>
              <a:ext uri="{FF2B5EF4-FFF2-40B4-BE49-F238E27FC236}">
                <a16:creationId xmlns:a16="http://schemas.microsoft.com/office/drawing/2014/main" id="{C57B69CD-9115-9578-7C06-E3CA500E132F}"/>
              </a:ext>
            </a:extLst>
          </p:cNvPr>
          <p:cNvPicPr>
            <a:picLocks noGrp="1" noChangeAspect="1"/>
          </p:cNvPicPr>
          <p:nvPr>
            <p:ph idx="1"/>
          </p:nvPr>
        </p:nvPicPr>
        <p:blipFill>
          <a:blip r:embed="rId2"/>
          <a:stretch>
            <a:fillRect/>
          </a:stretch>
        </p:blipFill>
        <p:spPr>
          <a:xfrm>
            <a:off x="1604884" y="1825625"/>
            <a:ext cx="8982231" cy="4351338"/>
          </a:xfrm>
          <a:prstGeom prst="rect">
            <a:avLst/>
          </a:prstGeom>
        </p:spPr>
      </p:pic>
    </p:spTree>
    <p:extLst>
      <p:ext uri="{BB962C8B-B14F-4D97-AF65-F5344CB8AC3E}">
        <p14:creationId xmlns:p14="http://schemas.microsoft.com/office/powerpoint/2010/main" val="1967032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8D6B24-F4FB-D1DB-E9A7-707B21940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C7814-DDD2-1725-ED6A-B16389B1B3D6}"/>
              </a:ext>
            </a:extLst>
          </p:cNvPr>
          <p:cNvSpPr>
            <a:spLocks noGrp="1"/>
          </p:cNvSpPr>
          <p:nvPr>
            <p:ph type="title"/>
          </p:nvPr>
        </p:nvSpPr>
        <p:spPr>
          <a:xfrm>
            <a:off x="0" y="643467"/>
            <a:ext cx="12192000" cy="744836"/>
          </a:xfrm>
          <a:solidFill>
            <a:schemeClr val="tx1"/>
          </a:solidFill>
        </p:spPr>
        <p:txBody>
          <a:bodyPr vert="horz" lIns="91440" tIns="45720" rIns="91440" bIns="45720" rtlCol="0" anchor="ctr">
            <a:normAutofit/>
          </a:bodyPr>
          <a:lstStyle/>
          <a:p>
            <a:pPr algn="ctr"/>
            <a:r>
              <a:rPr lang="en-US" sz="3200" kern="1200" dirty="0">
                <a:solidFill>
                  <a:schemeClr val="bg1"/>
                </a:solidFill>
                <a:latin typeface="+mj-lt"/>
                <a:ea typeface="+mj-ea"/>
                <a:cs typeface="+mj-cs"/>
              </a:rPr>
              <a:t>Totals</a:t>
            </a:r>
          </a:p>
        </p:txBody>
      </p:sp>
      <p:grpSp>
        <p:nvGrpSpPr>
          <p:cNvPr id="21" name="Group 20">
            <a:extLst>
              <a:ext uri="{FF2B5EF4-FFF2-40B4-BE49-F238E27FC236}">
                <a16:creationId xmlns:a16="http://schemas.microsoft.com/office/drawing/2014/main" id="{3E8942FA-8FD2-02D5-32E9-12CE19D11853}"/>
              </a:ext>
            </a:extLst>
          </p:cNvPr>
          <p:cNvGrpSpPr/>
          <p:nvPr/>
        </p:nvGrpSpPr>
        <p:grpSpPr>
          <a:xfrm>
            <a:off x="556532" y="1925849"/>
            <a:ext cx="10472972" cy="1503151"/>
            <a:chOff x="556532" y="2452899"/>
            <a:chExt cx="10472972" cy="1503151"/>
          </a:xfrm>
        </p:grpSpPr>
        <p:pic>
          <p:nvPicPr>
            <p:cNvPr id="7" name="Picture 6">
              <a:extLst>
                <a:ext uri="{FF2B5EF4-FFF2-40B4-BE49-F238E27FC236}">
                  <a16:creationId xmlns:a16="http://schemas.microsoft.com/office/drawing/2014/main" id="{3EC74C5D-BD63-AD81-480F-45748E3F1586}"/>
                </a:ext>
              </a:extLst>
            </p:cNvPr>
            <p:cNvPicPr>
              <a:picLocks noChangeAspect="1"/>
            </p:cNvPicPr>
            <p:nvPr/>
          </p:nvPicPr>
          <p:blipFill>
            <a:blip r:embed="rId2"/>
            <a:stretch>
              <a:fillRect/>
            </a:stretch>
          </p:blipFill>
          <p:spPr>
            <a:xfrm>
              <a:off x="556532" y="2914650"/>
              <a:ext cx="1612900" cy="1028700"/>
            </a:xfrm>
            <a:prstGeom prst="rect">
              <a:avLst/>
            </a:prstGeom>
          </p:spPr>
        </p:pic>
        <p:pic>
          <p:nvPicPr>
            <p:cNvPr id="12" name="Picture 11">
              <a:extLst>
                <a:ext uri="{FF2B5EF4-FFF2-40B4-BE49-F238E27FC236}">
                  <a16:creationId xmlns:a16="http://schemas.microsoft.com/office/drawing/2014/main" id="{4BE92383-BB59-2928-4A3B-8A3E3D2B615A}"/>
                </a:ext>
              </a:extLst>
            </p:cNvPr>
            <p:cNvPicPr>
              <a:picLocks noChangeAspect="1"/>
            </p:cNvPicPr>
            <p:nvPr/>
          </p:nvPicPr>
          <p:blipFill>
            <a:blip r:embed="rId3"/>
            <a:stretch>
              <a:fillRect/>
            </a:stretch>
          </p:blipFill>
          <p:spPr>
            <a:xfrm>
              <a:off x="4036332" y="2984500"/>
              <a:ext cx="1612900" cy="889000"/>
            </a:xfrm>
            <a:prstGeom prst="rect">
              <a:avLst/>
            </a:prstGeom>
          </p:spPr>
        </p:pic>
        <p:pic>
          <p:nvPicPr>
            <p:cNvPr id="14" name="Picture 13">
              <a:extLst>
                <a:ext uri="{FF2B5EF4-FFF2-40B4-BE49-F238E27FC236}">
                  <a16:creationId xmlns:a16="http://schemas.microsoft.com/office/drawing/2014/main" id="{8AD754D3-F2E5-4713-DAE7-1133D47092DB}"/>
                </a:ext>
              </a:extLst>
            </p:cNvPr>
            <p:cNvPicPr>
              <a:picLocks noChangeAspect="1"/>
            </p:cNvPicPr>
            <p:nvPr/>
          </p:nvPicPr>
          <p:blipFill>
            <a:blip r:embed="rId4"/>
            <a:stretch>
              <a:fillRect/>
            </a:stretch>
          </p:blipFill>
          <p:spPr>
            <a:xfrm>
              <a:off x="5649232" y="2940050"/>
              <a:ext cx="1511300" cy="1016000"/>
            </a:xfrm>
            <a:prstGeom prst="rect">
              <a:avLst/>
            </a:prstGeom>
          </p:spPr>
        </p:pic>
        <p:sp>
          <p:nvSpPr>
            <p:cNvPr id="15" name="TextBox 14">
              <a:extLst>
                <a:ext uri="{FF2B5EF4-FFF2-40B4-BE49-F238E27FC236}">
                  <a16:creationId xmlns:a16="http://schemas.microsoft.com/office/drawing/2014/main" id="{F502E7E1-554B-235D-BACF-E886B2519D02}"/>
                </a:ext>
              </a:extLst>
            </p:cNvPr>
            <p:cNvSpPr txBox="1"/>
            <p:nvPr/>
          </p:nvSpPr>
          <p:spPr>
            <a:xfrm>
              <a:off x="7516132" y="2940050"/>
              <a:ext cx="3513372" cy="584775"/>
            </a:xfrm>
            <a:prstGeom prst="rect">
              <a:avLst/>
            </a:prstGeom>
            <a:solidFill>
              <a:schemeClr val="bg1"/>
            </a:solidFill>
            <a:ln w="28575">
              <a:solidFill>
                <a:srgbClr val="FC6ACD"/>
              </a:solidFill>
            </a:ln>
          </p:spPr>
          <p:txBody>
            <a:bodyPr wrap="square" rtlCol="0">
              <a:spAutoFit/>
            </a:bodyPr>
            <a:lstStyle/>
            <a:p>
              <a:r>
                <a:rPr lang="en-US" sz="1600" dirty="0"/>
                <a:t>This includes a daily estimate of $3000 for lunch </a:t>
              </a:r>
            </a:p>
          </p:txBody>
        </p:sp>
        <p:pic>
          <p:nvPicPr>
            <p:cNvPr id="17" name="Picture 16">
              <a:extLst>
                <a:ext uri="{FF2B5EF4-FFF2-40B4-BE49-F238E27FC236}">
                  <a16:creationId xmlns:a16="http://schemas.microsoft.com/office/drawing/2014/main" id="{91AEEE82-879B-61F8-8F57-8DAD539B4E50}"/>
                </a:ext>
              </a:extLst>
            </p:cNvPr>
            <p:cNvPicPr>
              <a:picLocks noChangeAspect="1"/>
            </p:cNvPicPr>
            <p:nvPr/>
          </p:nvPicPr>
          <p:blipFill>
            <a:blip r:embed="rId5"/>
            <a:stretch>
              <a:fillRect/>
            </a:stretch>
          </p:blipFill>
          <p:spPr>
            <a:xfrm>
              <a:off x="2183446" y="2959100"/>
              <a:ext cx="1765300" cy="939800"/>
            </a:xfrm>
            <a:prstGeom prst="rect">
              <a:avLst/>
            </a:prstGeom>
          </p:spPr>
        </p:pic>
        <p:sp>
          <p:nvSpPr>
            <p:cNvPr id="18" name="TextBox 17">
              <a:extLst>
                <a:ext uri="{FF2B5EF4-FFF2-40B4-BE49-F238E27FC236}">
                  <a16:creationId xmlns:a16="http://schemas.microsoft.com/office/drawing/2014/main" id="{E964D4A8-3700-57FF-9D91-D44DEA6928D7}"/>
                </a:ext>
              </a:extLst>
            </p:cNvPr>
            <p:cNvSpPr txBox="1"/>
            <p:nvPr/>
          </p:nvSpPr>
          <p:spPr>
            <a:xfrm>
              <a:off x="2371318" y="2452985"/>
              <a:ext cx="2050393" cy="461665"/>
            </a:xfrm>
            <a:prstGeom prst="rect">
              <a:avLst/>
            </a:prstGeom>
            <a:noFill/>
            <a:ln w="28575">
              <a:noFill/>
            </a:ln>
          </p:spPr>
          <p:txBody>
            <a:bodyPr wrap="square" rtlCol="0">
              <a:spAutoFit/>
            </a:bodyPr>
            <a:lstStyle/>
            <a:p>
              <a:r>
                <a:rPr lang="en-US" sz="2400" b="1" dirty="0"/>
                <a:t>Thursday</a:t>
              </a:r>
            </a:p>
          </p:txBody>
        </p:sp>
        <p:sp>
          <p:nvSpPr>
            <p:cNvPr id="19" name="TextBox 18">
              <a:extLst>
                <a:ext uri="{FF2B5EF4-FFF2-40B4-BE49-F238E27FC236}">
                  <a16:creationId xmlns:a16="http://schemas.microsoft.com/office/drawing/2014/main" id="{4D8F62DC-D598-65FF-EDF7-24FAADB618EE}"/>
                </a:ext>
              </a:extLst>
            </p:cNvPr>
            <p:cNvSpPr txBox="1"/>
            <p:nvPr/>
          </p:nvSpPr>
          <p:spPr>
            <a:xfrm>
              <a:off x="4060284" y="2452899"/>
              <a:ext cx="2050393" cy="461665"/>
            </a:xfrm>
            <a:prstGeom prst="rect">
              <a:avLst/>
            </a:prstGeom>
            <a:noFill/>
            <a:ln w="28575">
              <a:noFill/>
            </a:ln>
          </p:spPr>
          <p:txBody>
            <a:bodyPr wrap="square" rtlCol="0">
              <a:spAutoFit/>
            </a:bodyPr>
            <a:lstStyle/>
            <a:p>
              <a:r>
                <a:rPr lang="en-US" sz="2400" b="1" dirty="0"/>
                <a:t>Friday</a:t>
              </a:r>
            </a:p>
          </p:txBody>
        </p:sp>
        <p:sp>
          <p:nvSpPr>
            <p:cNvPr id="20" name="TextBox 19">
              <a:extLst>
                <a:ext uri="{FF2B5EF4-FFF2-40B4-BE49-F238E27FC236}">
                  <a16:creationId xmlns:a16="http://schemas.microsoft.com/office/drawing/2014/main" id="{93E00E55-9D58-50A7-0FCE-75F4C8A3CBFC}"/>
                </a:ext>
              </a:extLst>
            </p:cNvPr>
            <p:cNvSpPr txBox="1"/>
            <p:nvPr/>
          </p:nvSpPr>
          <p:spPr>
            <a:xfrm>
              <a:off x="5719898" y="2478299"/>
              <a:ext cx="2050393" cy="461665"/>
            </a:xfrm>
            <a:prstGeom prst="rect">
              <a:avLst/>
            </a:prstGeom>
            <a:noFill/>
            <a:ln w="28575">
              <a:noFill/>
            </a:ln>
          </p:spPr>
          <p:txBody>
            <a:bodyPr wrap="square" rtlCol="0">
              <a:spAutoFit/>
            </a:bodyPr>
            <a:lstStyle/>
            <a:p>
              <a:r>
                <a:rPr lang="en-US" sz="2400" b="1" dirty="0"/>
                <a:t>Saturday</a:t>
              </a:r>
            </a:p>
          </p:txBody>
        </p:sp>
      </p:grpSp>
      <p:pic>
        <p:nvPicPr>
          <p:cNvPr id="23" name="Picture 22">
            <a:extLst>
              <a:ext uri="{FF2B5EF4-FFF2-40B4-BE49-F238E27FC236}">
                <a16:creationId xmlns:a16="http://schemas.microsoft.com/office/drawing/2014/main" id="{954D591C-1BC3-0DD2-CC8A-4077B29607BA}"/>
              </a:ext>
            </a:extLst>
          </p:cNvPr>
          <p:cNvPicPr>
            <a:picLocks noChangeAspect="1"/>
          </p:cNvPicPr>
          <p:nvPr/>
        </p:nvPicPr>
        <p:blipFill>
          <a:blip r:embed="rId6"/>
          <a:stretch>
            <a:fillRect/>
          </a:stretch>
        </p:blipFill>
        <p:spPr>
          <a:xfrm>
            <a:off x="556532" y="3757068"/>
            <a:ext cx="7772400" cy="2449180"/>
          </a:xfrm>
          <a:prstGeom prst="rect">
            <a:avLst/>
          </a:prstGeom>
        </p:spPr>
      </p:pic>
      <p:sp>
        <p:nvSpPr>
          <p:cNvPr id="24" name="TextBox 23">
            <a:extLst>
              <a:ext uri="{FF2B5EF4-FFF2-40B4-BE49-F238E27FC236}">
                <a16:creationId xmlns:a16="http://schemas.microsoft.com/office/drawing/2014/main" id="{91AA2AD5-115B-7FD7-F485-C1A971E88515}"/>
              </a:ext>
            </a:extLst>
          </p:cNvPr>
          <p:cNvSpPr txBox="1"/>
          <p:nvPr/>
        </p:nvSpPr>
        <p:spPr>
          <a:xfrm>
            <a:off x="6161994" y="5629758"/>
            <a:ext cx="3513372" cy="584775"/>
          </a:xfrm>
          <a:prstGeom prst="rect">
            <a:avLst/>
          </a:prstGeom>
          <a:solidFill>
            <a:schemeClr val="bg1"/>
          </a:solidFill>
          <a:ln w="28575">
            <a:solidFill>
              <a:srgbClr val="FC6ACD"/>
            </a:solidFill>
          </a:ln>
        </p:spPr>
        <p:txBody>
          <a:bodyPr wrap="square" rtlCol="0">
            <a:spAutoFit/>
          </a:bodyPr>
          <a:lstStyle/>
          <a:p>
            <a:r>
              <a:rPr lang="en-US" sz="1600" dirty="0"/>
              <a:t>There is $21.71 leftover per paying guest (just over $3470) </a:t>
            </a:r>
          </a:p>
        </p:txBody>
      </p:sp>
    </p:spTree>
    <p:extLst>
      <p:ext uri="{BB962C8B-B14F-4D97-AF65-F5344CB8AC3E}">
        <p14:creationId xmlns:p14="http://schemas.microsoft.com/office/powerpoint/2010/main" val="3838519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Graphic 6" descr="Fork and knife">
            <a:extLst>
              <a:ext uri="{FF2B5EF4-FFF2-40B4-BE49-F238E27FC236}">
                <a16:creationId xmlns:a16="http://schemas.microsoft.com/office/drawing/2014/main" id="{E3E90193-647C-A5E7-060D-30E432B346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1239" y="1525536"/>
            <a:ext cx="3775459" cy="3775459"/>
          </a:xfrm>
          <a:prstGeom prst="rect">
            <a:avLst/>
          </a:prstGeom>
        </p:spPr>
      </p:pic>
      <p:sp>
        <p:nvSpPr>
          <p:cNvPr id="2" name="Title 1">
            <a:extLst>
              <a:ext uri="{FF2B5EF4-FFF2-40B4-BE49-F238E27FC236}">
                <a16:creationId xmlns:a16="http://schemas.microsoft.com/office/drawing/2014/main" id="{9A24B7BB-5BAF-C6EF-8E9F-2194143A8E2E}"/>
              </a:ext>
            </a:extLst>
          </p:cNvPr>
          <p:cNvSpPr>
            <a:spLocks noGrp="1"/>
          </p:cNvSpPr>
          <p:nvPr>
            <p:ph type="title"/>
          </p:nvPr>
        </p:nvSpPr>
        <p:spPr>
          <a:xfrm>
            <a:off x="5775961" y="962526"/>
            <a:ext cx="5384800" cy="3210689"/>
          </a:xfrm>
        </p:spPr>
        <p:txBody>
          <a:bodyPr vert="horz" lIns="91440" tIns="45720" rIns="91440" bIns="45720" rtlCol="0" anchor="b">
            <a:normAutofit/>
          </a:bodyPr>
          <a:lstStyle/>
          <a:p>
            <a:r>
              <a:rPr lang="en-US" sz="7200" kern="1200">
                <a:solidFill>
                  <a:schemeClr val="tx1"/>
                </a:solidFill>
                <a:latin typeface="+mj-lt"/>
                <a:ea typeface="+mj-ea"/>
                <a:cs typeface="+mj-cs"/>
              </a:rPr>
              <a:t>Lunch options </a:t>
            </a:r>
          </a:p>
        </p:txBody>
      </p:sp>
      <p:sp>
        <p:nvSpPr>
          <p:cNvPr id="3" name="Text Placeholder 2">
            <a:extLst>
              <a:ext uri="{FF2B5EF4-FFF2-40B4-BE49-F238E27FC236}">
                <a16:creationId xmlns:a16="http://schemas.microsoft.com/office/drawing/2014/main" id="{FB804C9C-69F7-E95E-3888-423C8D2E4A2C}"/>
              </a:ext>
            </a:extLst>
          </p:cNvPr>
          <p:cNvSpPr>
            <a:spLocks noGrp="1"/>
          </p:cNvSpPr>
          <p:nvPr>
            <p:ph type="body" idx="1"/>
          </p:nvPr>
        </p:nvSpPr>
        <p:spPr>
          <a:xfrm>
            <a:off x="5775961" y="4269462"/>
            <a:ext cx="4048760" cy="1095017"/>
          </a:xfrm>
        </p:spPr>
        <p:txBody>
          <a:bodyPr vert="horz" lIns="91440" tIns="45720" rIns="91440" bIns="45720" rtlCol="0" anchor="t">
            <a:normAutofit/>
          </a:bodyPr>
          <a:lstStyle/>
          <a:p>
            <a:r>
              <a:rPr lang="en-US" sz="2000" kern="1200">
                <a:solidFill>
                  <a:schemeClr val="tx1"/>
                </a:solidFill>
                <a:latin typeface="+mn-lt"/>
                <a:ea typeface="+mn-ea"/>
                <a:cs typeface="+mn-cs"/>
              </a:rPr>
              <a:t>Build your own boxes </a:t>
            </a:r>
          </a:p>
        </p:txBody>
      </p:sp>
      <p:sp>
        <p:nvSpPr>
          <p:cNvPr id="4" name="TextBox 3">
            <a:extLst>
              <a:ext uri="{FF2B5EF4-FFF2-40B4-BE49-F238E27FC236}">
                <a16:creationId xmlns:a16="http://schemas.microsoft.com/office/drawing/2014/main" id="{33F56DF8-FE8A-9754-DE55-89C6004BB194}"/>
              </a:ext>
            </a:extLst>
          </p:cNvPr>
          <p:cNvSpPr txBox="1"/>
          <p:nvPr/>
        </p:nvSpPr>
        <p:spPr>
          <a:xfrm>
            <a:off x="891348" y="5205938"/>
            <a:ext cx="7361932" cy="830997"/>
          </a:xfrm>
          <a:prstGeom prst="rect">
            <a:avLst/>
          </a:prstGeom>
          <a:solidFill>
            <a:schemeClr val="bg1"/>
          </a:solidFill>
          <a:ln w="28575">
            <a:solidFill>
              <a:srgbClr val="FC6ACD"/>
            </a:solidFill>
          </a:ln>
        </p:spPr>
        <p:txBody>
          <a:bodyPr wrap="square" rtlCol="0">
            <a:spAutoFit/>
          </a:bodyPr>
          <a:lstStyle/>
          <a:p>
            <a:r>
              <a:rPr lang="en-US" sz="2400" dirty="0"/>
              <a:t>I’ve outlined a few different lunch options here. If we keep lunch at $20 per serving, we are in the clear. </a:t>
            </a:r>
          </a:p>
        </p:txBody>
      </p:sp>
    </p:spTree>
    <p:extLst>
      <p:ext uri="{BB962C8B-B14F-4D97-AF65-F5344CB8AC3E}">
        <p14:creationId xmlns:p14="http://schemas.microsoft.com/office/powerpoint/2010/main" val="3164254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24DDC00-3190-1E8F-1EEC-EC7D3E96B8D8}"/>
              </a:ext>
            </a:extLst>
          </p:cNvPr>
          <p:cNvPicPr>
            <a:picLocks noChangeAspect="1"/>
          </p:cNvPicPr>
          <p:nvPr/>
        </p:nvPicPr>
        <p:blipFill>
          <a:blip r:embed="rId3"/>
          <a:stretch>
            <a:fillRect/>
          </a:stretch>
        </p:blipFill>
        <p:spPr>
          <a:xfrm>
            <a:off x="254876" y="2911411"/>
            <a:ext cx="11518024" cy="3881465"/>
          </a:xfrm>
          <a:prstGeom prst="rect">
            <a:avLst/>
          </a:prstGeom>
        </p:spPr>
      </p:pic>
      <p:sp>
        <p:nvSpPr>
          <p:cNvPr id="2" name="Title 1">
            <a:extLst>
              <a:ext uri="{FF2B5EF4-FFF2-40B4-BE49-F238E27FC236}">
                <a16:creationId xmlns:a16="http://schemas.microsoft.com/office/drawing/2014/main" id="{E616819F-6F56-032D-5B30-88F9FD01753C}"/>
              </a:ext>
            </a:extLst>
          </p:cNvPr>
          <p:cNvSpPr>
            <a:spLocks noGrp="1"/>
          </p:cNvSpPr>
          <p:nvPr>
            <p:ph type="title"/>
          </p:nvPr>
        </p:nvSpPr>
        <p:spPr>
          <a:xfrm>
            <a:off x="176049" y="0"/>
            <a:ext cx="10515600" cy="1325563"/>
          </a:xfrm>
        </p:spPr>
        <p:txBody>
          <a:bodyPr/>
          <a:lstStyle/>
          <a:p>
            <a:r>
              <a:rPr lang="en-US" dirty="0"/>
              <a:t>Individual Hot Lunches </a:t>
            </a:r>
          </a:p>
        </p:txBody>
      </p:sp>
      <p:sp>
        <p:nvSpPr>
          <p:cNvPr id="3" name="Content Placeholder 2">
            <a:extLst>
              <a:ext uri="{FF2B5EF4-FFF2-40B4-BE49-F238E27FC236}">
                <a16:creationId xmlns:a16="http://schemas.microsoft.com/office/drawing/2014/main" id="{DD3FF1F2-6D23-3B78-7FDD-A5F0DB6EC301}"/>
              </a:ext>
            </a:extLst>
          </p:cNvPr>
          <p:cNvSpPr>
            <a:spLocks noGrp="1"/>
          </p:cNvSpPr>
          <p:nvPr>
            <p:ph idx="1"/>
          </p:nvPr>
        </p:nvSpPr>
        <p:spPr>
          <a:xfrm>
            <a:off x="419100" y="1086010"/>
            <a:ext cx="11772900" cy="4351338"/>
          </a:xfrm>
        </p:spPr>
        <p:txBody>
          <a:bodyPr>
            <a:normAutofit/>
          </a:bodyPr>
          <a:lstStyle/>
          <a:p>
            <a:r>
              <a:rPr lang="en-US" sz="2400" dirty="0"/>
              <a:t>We would love to be able to offer a hot lunch </a:t>
            </a:r>
          </a:p>
          <a:p>
            <a:r>
              <a:rPr lang="en-US" sz="2400" dirty="0"/>
              <a:t>They would be about $25 per person ($5000 per lunch) </a:t>
            </a:r>
          </a:p>
          <a:p>
            <a:r>
              <a:rPr lang="en-US" sz="2400" dirty="0"/>
              <a:t>Hot lunches put us over budget no matter how many or which days we do them. </a:t>
            </a:r>
          </a:p>
          <a:p>
            <a:r>
              <a:rPr lang="en-US" sz="2400" dirty="0"/>
              <a:t>Hot lunches all 3 days would be an extra $1000 on top of all 160 registration fees</a:t>
            </a:r>
          </a:p>
          <a:p>
            <a:endParaRPr lang="en-US" sz="2400" dirty="0"/>
          </a:p>
          <a:p>
            <a:endParaRPr lang="en-US" sz="2400" dirty="0"/>
          </a:p>
        </p:txBody>
      </p:sp>
      <p:sp>
        <p:nvSpPr>
          <p:cNvPr id="6" name="TextBox 5">
            <a:extLst>
              <a:ext uri="{FF2B5EF4-FFF2-40B4-BE49-F238E27FC236}">
                <a16:creationId xmlns:a16="http://schemas.microsoft.com/office/drawing/2014/main" id="{C6735281-BFF7-48A1-C106-C6B0C09050AE}"/>
              </a:ext>
            </a:extLst>
          </p:cNvPr>
          <p:cNvSpPr txBox="1"/>
          <p:nvPr/>
        </p:nvSpPr>
        <p:spPr>
          <a:xfrm>
            <a:off x="8446924" y="4606351"/>
            <a:ext cx="3490200" cy="830997"/>
          </a:xfrm>
          <a:prstGeom prst="rect">
            <a:avLst/>
          </a:prstGeom>
          <a:solidFill>
            <a:schemeClr val="bg1"/>
          </a:solidFill>
          <a:ln w="28575">
            <a:solidFill>
              <a:srgbClr val="FC6ACD"/>
            </a:solidFill>
          </a:ln>
        </p:spPr>
        <p:txBody>
          <a:bodyPr wrap="square" rtlCol="0">
            <a:spAutoFit/>
          </a:bodyPr>
          <a:lstStyle/>
          <a:p>
            <a:r>
              <a:rPr lang="en-US" sz="1600" dirty="0"/>
              <a:t>One hot lunch break estimated costs.</a:t>
            </a:r>
            <a:br>
              <a:rPr lang="en-US" sz="1600" dirty="0"/>
            </a:br>
            <a:r>
              <a:rPr lang="en-US" sz="1600" dirty="0"/>
              <a:t>(If this was Thursday it would be cheaper)</a:t>
            </a:r>
          </a:p>
        </p:txBody>
      </p:sp>
      <p:sp>
        <p:nvSpPr>
          <p:cNvPr id="9" name="TextBox 8">
            <a:extLst>
              <a:ext uri="{FF2B5EF4-FFF2-40B4-BE49-F238E27FC236}">
                <a16:creationId xmlns:a16="http://schemas.microsoft.com/office/drawing/2014/main" id="{A2594424-B0FF-30FA-EF5E-3348BDD2B76D}"/>
              </a:ext>
            </a:extLst>
          </p:cNvPr>
          <p:cNvSpPr txBox="1"/>
          <p:nvPr/>
        </p:nvSpPr>
        <p:spPr>
          <a:xfrm>
            <a:off x="2707511" y="3880302"/>
            <a:ext cx="3535634" cy="338554"/>
          </a:xfrm>
          <a:prstGeom prst="rect">
            <a:avLst/>
          </a:prstGeom>
          <a:solidFill>
            <a:schemeClr val="bg1"/>
          </a:solidFill>
          <a:ln w="28575">
            <a:solidFill>
              <a:srgbClr val="FC6ACD"/>
            </a:solidFill>
          </a:ln>
        </p:spPr>
        <p:txBody>
          <a:bodyPr wrap="square" rtlCol="0">
            <a:spAutoFit/>
          </a:bodyPr>
          <a:lstStyle/>
          <a:p>
            <a:r>
              <a:rPr lang="en-US" sz="1600" dirty="0"/>
              <a:t>No vegan option but they’ll make one </a:t>
            </a:r>
          </a:p>
        </p:txBody>
      </p:sp>
      <p:sp>
        <p:nvSpPr>
          <p:cNvPr id="10" name="TextBox 9">
            <a:extLst>
              <a:ext uri="{FF2B5EF4-FFF2-40B4-BE49-F238E27FC236}">
                <a16:creationId xmlns:a16="http://schemas.microsoft.com/office/drawing/2014/main" id="{57732A8F-2620-520C-B599-2835EC6F7562}"/>
              </a:ext>
            </a:extLst>
          </p:cNvPr>
          <p:cNvSpPr txBox="1"/>
          <p:nvPr/>
        </p:nvSpPr>
        <p:spPr>
          <a:xfrm>
            <a:off x="3754330" y="3103469"/>
            <a:ext cx="1441996" cy="584775"/>
          </a:xfrm>
          <a:prstGeom prst="rect">
            <a:avLst/>
          </a:prstGeom>
          <a:solidFill>
            <a:schemeClr val="bg1"/>
          </a:solidFill>
          <a:ln w="28575">
            <a:solidFill>
              <a:srgbClr val="FC6ACD"/>
            </a:solidFill>
          </a:ln>
        </p:spPr>
        <p:txBody>
          <a:bodyPr wrap="square" rtlCol="0">
            <a:spAutoFit/>
          </a:bodyPr>
          <a:lstStyle/>
          <a:p>
            <a:r>
              <a:rPr lang="en-US" sz="1600" dirty="0"/>
              <a:t>Note both are sandwiches</a:t>
            </a:r>
          </a:p>
        </p:txBody>
      </p:sp>
    </p:spTree>
    <p:extLst>
      <p:ext uri="{BB962C8B-B14F-4D97-AF65-F5344CB8AC3E}">
        <p14:creationId xmlns:p14="http://schemas.microsoft.com/office/powerpoint/2010/main" val="4105945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788AC-72A9-9CAA-1B6A-9A08871AA0C0}"/>
              </a:ext>
            </a:extLst>
          </p:cNvPr>
          <p:cNvSpPr>
            <a:spLocks noGrp="1"/>
          </p:cNvSpPr>
          <p:nvPr>
            <p:ph type="title"/>
          </p:nvPr>
        </p:nvSpPr>
        <p:spPr/>
        <p:txBody>
          <a:bodyPr/>
          <a:lstStyle/>
          <a:p>
            <a:r>
              <a:rPr lang="en-US" dirty="0"/>
              <a:t>Hot Lunch Buffets</a:t>
            </a:r>
          </a:p>
        </p:txBody>
      </p:sp>
      <p:pic>
        <p:nvPicPr>
          <p:cNvPr id="5" name="Content Placeholder 4">
            <a:extLst>
              <a:ext uri="{FF2B5EF4-FFF2-40B4-BE49-F238E27FC236}">
                <a16:creationId xmlns:a16="http://schemas.microsoft.com/office/drawing/2014/main" id="{35D86D2F-1E16-D434-7167-00E3877A037F}"/>
              </a:ext>
            </a:extLst>
          </p:cNvPr>
          <p:cNvPicPr>
            <a:picLocks noGrp="1" noChangeAspect="1"/>
          </p:cNvPicPr>
          <p:nvPr>
            <p:ph idx="1"/>
          </p:nvPr>
        </p:nvPicPr>
        <p:blipFill>
          <a:blip r:embed="rId3"/>
          <a:stretch>
            <a:fillRect/>
          </a:stretch>
        </p:blipFill>
        <p:spPr>
          <a:xfrm>
            <a:off x="6140047" y="0"/>
            <a:ext cx="6051954" cy="6858000"/>
          </a:xfrm>
          <a:prstGeom prst="rect">
            <a:avLst/>
          </a:prstGeom>
        </p:spPr>
      </p:pic>
      <p:sp>
        <p:nvSpPr>
          <p:cNvPr id="6" name="TextBox 5">
            <a:extLst>
              <a:ext uri="{FF2B5EF4-FFF2-40B4-BE49-F238E27FC236}">
                <a16:creationId xmlns:a16="http://schemas.microsoft.com/office/drawing/2014/main" id="{F978C557-A4D7-52F1-5C19-5858BE68217F}"/>
              </a:ext>
            </a:extLst>
          </p:cNvPr>
          <p:cNvSpPr txBox="1"/>
          <p:nvPr/>
        </p:nvSpPr>
        <p:spPr>
          <a:xfrm>
            <a:off x="7579055" y="6492875"/>
            <a:ext cx="4137352" cy="338554"/>
          </a:xfrm>
          <a:prstGeom prst="rect">
            <a:avLst/>
          </a:prstGeom>
          <a:solidFill>
            <a:schemeClr val="bg1"/>
          </a:solidFill>
          <a:ln w="28575">
            <a:solidFill>
              <a:srgbClr val="FC6ACD"/>
            </a:solidFill>
          </a:ln>
        </p:spPr>
        <p:txBody>
          <a:bodyPr wrap="square" rtlCol="0">
            <a:spAutoFit/>
          </a:bodyPr>
          <a:lstStyle/>
          <a:p>
            <a:r>
              <a:rPr lang="en-US" sz="1600" dirty="0"/>
              <a:t>No vegan option but they’ll make one </a:t>
            </a:r>
          </a:p>
        </p:txBody>
      </p:sp>
      <p:sp>
        <p:nvSpPr>
          <p:cNvPr id="9" name="TextBox 8">
            <a:extLst>
              <a:ext uri="{FF2B5EF4-FFF2-40B4-BE49-F238E27FC236}">
                <a16:creationId xmlns:a16="http://schemas.microsoft.com/office/drawing/2014/main" id="{9B9494F6-EBEC-056C-D400-7B4EFCE97799}"/>
              </a:ext>
            </a:extLst>
          </p:cNvPr>
          <p:cNvSpPr txBox="1"/>
          <p:nvPr/>
        </p:nvSpPr>
        <p:spPr>
          <a:xfrm>
            <a:off x="472966" y="1497724"/>
            <a:ext cx="5623034"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This is a secondary option for lunches</a:t>
            </a:r>
          </a:p>
          <a:p>
            <a:pPr marL="342900" indent="-342900">
              <a:buFont typeface="Arial" panose="020B0604020202020204" pitchFamily="34" charset="0"/>
              <a:buChar char="•"/>
            </a:pPr>
            <a:r>
              <a:rPr lang="en-US" sz="2400" dirty="0"/>
              <a:t>They’re expensive and there’s only one side option</a:t>
            </a:r>
          </a:p>
          <a:p>
            <a:pPr marL="342900" indent="-342900">
              <a:buFont typeface="Arial" panose="020B0604020202020204" pitchFamily="34" charset="0"/>
              <a:buChar char="•"/>
            </a:pPr>
            <a:r>
              <a:rPr lang="en-US" sz="2400" dirty="0"/>
              <a:t>Water is included but offering other beverages would be a good idea </a:t>
            </a:r>
          </a:p>
          <a:p>
            <a:pPr marL="800100" lvl="1" indent="-342900">
              <a:buFont typeface="Arial" panose="020B0604020202020204" pitchFamily="34" charset="0"/>
              <a:buChar char="•"/>
            </a:pPr>
            <a:r>
              <a:rPr lang="en-US" sz="2400" dirty="0"/>
              <a:t>Coffee would be about $200 cheaper; I think bottles or cans would be better</a:t>
            </a:r>
          </a:p>
        </p:txBody>
      </p:sp>
      <p:pic>
        <p:nvPicPr>
          <p:cNvPr id="11" name="Picture 10">
            <a:extLst>
              <a:ext uri="{FF2B5EF4-FFF2-40B4-BE49-F238E27FC236}">
                <a16:creationId xmlns:a16="http://schemas.microsoft.com/office/drawing/2014/main" id="{5A701254-8390-CE2D-439A-4F002565D1E8}"/>
              </a:ext>
            </a:extLst>
          </p:cNvPr>
          <p:cNvPicPr>
            <a:picLocks noChangeAspect="1"/>
          </p:cNvPicPr>
          <p:nvPr/>
        </p:nvPicPr>
        <p:blipFill>
          <a:blip r:embed="rId4"/>
          <a:stretch>
            <a:fillRect/>
          </a:stretch>
        </p:blipFill>
        <p:spPr>
          <a:xfrm>
            <a:off x="0" y="5077227"/>
            <a:ext cx="6851322" cy="1535281"/>
          </a:xfrm>
          <a:prstGeom prst="rect">
            <a:avLst/>
          </a:prstGeom>
        </p:spPr>
      </p:pic>
      <p:sp>
        <p:nvSpPr>
          <p:cNvPr id="12" name="TextBox 11">
            <a:extLst>
              <a:ext uri="{FF2B5EF4-FFF2-40B4-BE49-F238E27FC236}">
                <a16:creationId xmlns:a16="http://schemas.microsoft.com/office/drawing/2014/main" id="{5D4C6FA8-AFD3-28BF-5A1F-FDD150854254}"/>
              </a:ext>
            </a:extLst>
          </p:cNvPr>
          <p:cNvSpPr txBox="1"/>
          <p:nvPr/>
        </p:nvSpPr>
        <p:spPr>
          <a:xfrm>
            <a:off x="472966" y="4618541"/>
            <a:ext cx="4137352" cy="338554"/>
          </a:xfrm>
          <a:prstGeom prst="rect">
            <a:avLst/>
          </a:prstGeom>
          <a:solidFill>
            <a:schemeClr val="bg1"/>
          </a:solidFill>
          <a:ln w="28575">
            <a:solidFill>
              <a:srgbClr val="FC6ACD"/>
            </a:solidFill>
          </a:ln>
        </p:spPr>
        <p:txBody>
          <a:bodyPr wrap="square" rtlCol="0">
            <a:spAutoFit/>
          </a:bodyPr>
          <a:lstStyle/>
          <a:p>
            <a:r>
              <a:rPr lang="en-US" sz="1600" dirty="0"/>
              <a:t>Cans of pop are the only open under $3 ea.</a:t>
            </a:r>
          </a:p>
        </p:txBody>
      </p:sp>
    </p:spTree>
    <p:extLst>
      <p:ext uri="{BB962C8B-B14F-4D97-AF65-F5344CB8AC3E}">
        <p14:creationId xmlns:p14="http://schemas.microsoft.com/office/powerpoint/2010/main" val="1946260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CAE72-8F76-603B-71F7-D1932CEA55C6}"/>
              </a:ext>
            </a:extLst>
          </p:cNvPr>
          <p:cNvSpPr>
            <a:spLocks noGrp="1"/>
          </p:cNvSpPr>
          <p:nvPr>
            <p:ph type="title"/>
          </p:nvPr>
        </p:nvSpPr>
        <p:spPr/>
        <p:txBody>
          <a:bodyPr/>
          <a:lstStyle/>
          <a:p>
            <a:r>
              <a:rPr lang="en-US" dirty="0"/>
              <a:t>Cheap lunches </a:t>
            </a:r>
          </a:p>
        </p:txBody>
      </p:sp>
      <p:sp>
        <p:nvSpPr>
          <p:cNvPr id="3" name="Content Placeholder 2">
            <a:extLst>
              <a:ext uri="{FF2B5EF4-FFF2-40B4-BE49-F238E27FC236}">
                <a16:creationId xmlns:a16="http://schemas.microsoft.com/office/drawing/2014/main" id="{D996225E-46EE-E1D5-27F5-09F83D1D7497}"/>
              </a:ext>
            </a:extLst>
          </p:cNvPr>
          <p:cNvSpPr>
            <a:spLocks noGrp="1"/>
          </p:cNvSpPr>
          <p:nvPr>
            <p:ph idx="1"/>
          </p:nvPr>
        </p:nvSpPr>
        <p:spPr>
          <a:xfrm>
            <a:off x="9342945" y="1888687"/>
            <a:ext cx="2849055" cy="4351338"/>
          </a:xfrm>
        </p:spPr>
        <p:txBody>
          <a:bodyPr>
            <a:normAutofit/>
          </a:bodyPr>
          <a:lstStyle/>
          <a:p>
            <a:r>
              <a:rPr lang="en-US" sz="2000" dirty="0"/>
              <a:t>This is the cheapest lunch possible, it maximizes the quantity of food available for the price </a:t>
            </a:r>
          </a:p>
          <a:p>
            <a:r>
              <a:rPr lang="en-US" sz="2000" dirty="0"/>
              <a:t>They’re more like finger sandwiches</a:t>
            </a:r>
          </a:p>
          <a:p>
            <a:r>
              <a:rPr lang="en-US" sz="2000" dirty="0"/>
              <a:t>I added extras to make the lunch seem like more while staying in the $20 budget. </a:t>
            </a:r>
          </a:p>
        </p:txBody>
      </p:sp>
      <p:pic>
        <p:nvPicPr>
          <p:cNvPr id="7" name="Picture 6">
            <a:extLst>
              <a:ext uri="{FF2B5EF4-FFF2-40B4-BE49-F238E27FC236}">
                <a16:creationId xmlns:a16="http://schemas.microsoft.com/office/drawing/2014/main" id="{F99820D9-DC26-9EEF-359C-00E277A8ACB5}"/>
              </a:ext>
            </a:extLst>
          </p:cNvPr>
          <p:cNvPicPr>
            <a:picLocks noChangeAspect="1"/>
          </p:cNvPicPr>
          <p:nvPr/>
        </p:nvPicPr>
        <p:blipFill>
          <a:blip r:embed="rId2"/>
          <a:stretch>
            <a:fillRect/>
          </a:stretch>
        </p:blipFill>
        <p:spPr>
          <a:xfrm>
            <a:off x="205827" y="1888687"/>
            <a:ext cx="9087806" cy="3944554"/>
          </a:xfrm>
          <a:prstGeom prst="rect">
            <a:avLst/>
          </a:prstGeom>
        </p:spPr>
      </p:pic>
      <p:pic>
        <p:nvPicPr>
          <p:cNvPr id="1026" name="Picture 2" descr="24hr Notice Required - Classic Tea Sandwich Platter - 1 kg | Zehrs">
            <a:extLst>
              <a:ext uri="{FF2B5EF4-FFF2-40B4-BE49-F238E27FC236}">
                <a16:creationId xmlns:a16="http://schemas.microsoft.com/office/drawing/2014/main" id="{50B5CB5B-F566-C81A-7E17-F0F1F5A587A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182" b="14109"/>
          <a:stretch>
            <a:fillRect/>
          </a:stretch>
        </p:blipFill>
        <p:spPr bwMode="auto">
          <a:xfrm>
            <a:off x="9648497" y="115474"/>
            <a:ext cx="2259724" cy="157521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8891DA8-93C5-3E61-C427-C6E59969DBF9}"/>
              </a:ext>
            </a:extLst>
          </p:cNvPr>
          <p:cNvSpPr txBox="1"/>
          <p:nvPr/>
        </p:nvSpPr>
        <p:spPr>
          <a:xfrm>
            <a:off x="7106089" y="69102"/>
            <a:ext cx="2542408" cy="342395"/>
          </a:xfrm>
          <a:prstGeom prst="rect">
            <a:avLst/>
          </a:prstGeom>
          <a:solidFill>
            <a:schemeClr val="bg1"/>
          </a:solidFill>
          <a:ln w="28575">
            <a:solidFill>
              <a:srgbClr val="FC6ACD"/>
            </a:solidFill>
          </a:ln>
        </p:spPr>
        <p:txBody>
          <a:bodyPr wrap="square" rtlCol="0">
            <a:spAutoFit/>
          </a:bodyPr>
          <a:lstStyle/>
          <a:p>
            <a:r>
              <a:rPr lang="en-US" sz="1600" dirty="0"/>
              <a:t>Sandwiches look like this</a:t>
            </a:r>
          </a:p>
        </p:txBody>
      </p:sp>
    </p:spTree>
    <p:extLst>
      <p:ext uri="{BB962C8B-B14F-4D97-AF65-F5344CB8AC3E}">
        <p14:creationId xmlns:p14="http://schemas.microsoft.com/office/powerpoint/2010/main" val="3836716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B1F6-60DE-3DCE-0B0F-071C0A1283C0}"/>
              </a:ext>
            </a:extLst>
          </p:cNvPr>
          <p:cNvSpPr>
            <a:spLocks noGrp="1"/>
          </p:cNvSpPr>
          <p:nvPr>
            <p:ph type="title"/>
          </p:nvPr>
        </p:nvSpPr>
        <p:spPr>
          <a:xfrm>
            <a:off x="8089021" y="585843"/>
            <a:ext cx="3866825" cy="1325563"/>
          </a:xfrm>
        </p:spPr>
        <p:txBody>
          <a:bodyPr>
            <a:normAutofit fontScale="90000"/>
          </a:bodyPr>
          <a:lstStyle/>
          <a:p>
            <a:r>
              <a:rPr lang="en-US" dirty="0"/>
              <a:t>Best lunch option (in my opinion)</a:t>
            </a:r>
          </a:p>
        </p:txBody>
      </p:sp>
      <p:pic>
        <p:nvPicPr>
          <p:cNvPr id="5" name="Content Placeholder 4">
            <a:extLst>
              <a:ext uri="{FF2B5EF4-FFF2-40B4-BE49-F238E27FC236}">
                <a16:creationId xmlns:a16="http://schemas.microsoft.com/office/drawing/2014/main" id="{239096D0-7BCB-E00B-BC70-A2CDBBC74A59}"/>
              </a:ext>
            </a:extLst>
          </p:cNvPr>
          <p:cNvPicPr>
            <a:picLocks noGrp="1" noChangeAspect="1"/>
          </p:cNvPicPr>
          <p:nvPr>
            <p:ph idx="1"/>
          </p:nvPr>
        </p:nvPicPr>
        <p:blipFill>
          <a:blip r:embed="rId2"/>
          <a:stretch>
            <a:fillRect/>
          </a:stretch>
        </p:blipFill>
        <p:spPr>
          <a:xfrm>
            <a:off x="442749" y="391427"/>
            <a:ext cx="6446781" cy="2484993"/>
          </a:xfrm>
          <a:prstGeom prst="rect">
            <a:avLst/>
          </a:prstGeom>
        </p:spPr>
      </p:pic>
      <p:sp>
        <p:nvSpPr>
          <p:cNvPr id="6" name="Content Placeholder 2">
            <a:extLst>
              <a:ext uri="{FF2B5EF4-FFF2-40B4-BE49-F238E27FC236}">
                <a16:creationId xmlns:a16="http://schemas.microsoft.com/office/drawing/2014/main" id="{39614DF5-4EB4-BEBA-8CE1-7C95BB6C9B82}"/>
              </a:ext>
            </a:extLst>
          </p:cNvPr>
          <p:cNvSpPr txBox="1">
            <a:spLocks/>
          </p:cNvSpPr>
          <p:nvPr/>
        </p:nvSpPr>
        <p:spPr>
          <a:xfrm>
            <a:off x="9559488" y="2408671"/>
            <a:ext cx="239635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Fancier sandwiches</a:t>
            </a:r>
          </a:p>
          <a:p>
            <a:r>
              <a:rPr lang="en-US" sz="2000" dirty="0"/>
              <a:t>Need less extras </a:t>
            </a:r>
          </a:p>
          <a:p>
            <a:r>
              <a:rPr lang="en-US" sz="2000" dirty="0"/>
              <a:t>Still need beverages</a:t>
            </a:r>
          </a:p>
          <a:p>
            <a:r>
              <a:rPr lang="en-US" sz="2000" dirty="0"/>
              <a:t>We can mix and match the kinds I think</a:t>
            </a:r>
          </a:p>
        </p:txBody>
      </p:sp>
      <p:pic>
        <p:nvPicPr>
          <p:cNvPr id="8" name="Picture 7">
            <a:extLst>
              <a:ext uri="{FF2B5EF4-FFF2-40B4-BE49-F238E27FC236}">
                <a16:creationId xmlns:a16="http://schemas.microsoft.com/office/drawing/2014/main" id="{928B7B3D-F7EA-0799-63B3-836EFE17225C}"/>
              </a:ext>
            </a:extLst>
          </p:cNvPr>
          <p:cNvPicPr>
            <a:picLocks noChangeAspect="1"/>
          </p:cNvPicPr>
          <p:nvPr/>
        </p:nvPicPr>
        <p:blipFill>
          <a:blip r:embed="rId3"/>
          <a:stretch>
            <a:fillRect/>
          </a:stretch>
        </p:blipFill>
        <p:spPr>
          <a:xfrm>
            <a:off x="236153" y="3016251"/>
            <a:ext cx="8387585" cy="3743758"/>
          </a:xfrm>
          <a:prstGeom prst="rect">
            <a:avLst/>
          </a:prstGeom>
        </p:spPr>
      </p:pic>
    </p:spTree>
    <p:extLst>
      <p:ext uri="{BB962C8B-B14F-4D97-AF65-F5344CB8AC3E}">
        <p14:creationId xmlns:p14="http://schemas.microsoft.com/office/powerpoint/2010/main" val="1528048895"/>
      </p:ext>
    </p:extLst>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4B94294CB887F42BEEB8F68FE8A24CE" ma:contentTypeVersion="13" ma:contentTypeDescription="Create a new document." ma:contentTypeScope="" ma:versionID="a8ca079e182ddfc12ee31dc9cb9b7f46">
  <xsd:schema xmlns:xsd="http://www.w3.org/2001/XMLSchema" xmlns:xs="http://www.w3.org/2001/XMLSchema" xmlns:p="http://schemas.microsoft.com/office/2006/metadata/properties" xmlns:ns2="4f66800e-b8c8-4f1d-9966-46ed6851c537" xmlns:ns3="ac658da9-eddc-40b3-a3e4-f4ed2eb4c2ea" targetNamespace="http://schemas.microsoft.com/office/2006/metadata/properties" ma:root="true" ma:fieldsID="1bd2490ebfad810c670ff89d61b25ee3" ns2:_="" ns3:_="">
    <xsd:import namespace="4f66800e-b8c8-4f1d-9966-46ed6851c537"/>
    <xsd:import namespace="ac658da9-eddc-40b3-a3e4-f4ed2eb4c2e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Location" minOccurs="0"/>
                <xsd:element ref="ns2:Logo"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66800e-b8c8-4f1d-9966-46ed6851c5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08d44918-0402-4173-a38e-4345c47fbb37"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Logo" ma:index="18" nillable="true" ma:displayName="Logo " ma:format="Dropdown" ma:internalName="Logo">
      <xsd:simpleType>
        <xsd:restriction base="dms:Text">
          <xsd:maxLength value="255"/>
        </xsd:restriction>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c658da9-eddc-40b3-a3e4-f4ed2eb4c2ea"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5c88de9-26ca-44be-82ce-33109b6030b3}" ma:internalName="TaxCatchAll" ma:showField="CatchAllData" ma:web="ac658da9-eddc-40b3-a3e4-f4ed2eb4c2e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f66800e-b8c8-4f1d-9966-46ed6851c537">
      <Terms xmlns="http://schemas.microsoft.com/office/infopath/2007/PartnerControls"/>
    </lcf76f155ced4ddcb4097134ff3c332f>
    <TaxCatchAll xmlns="ac658da9-eddc-40b3-a3e4-f4ed2eb4c2ea" xsi:nil="true"/>
    <Logo xmlns="4f66800e-b8c8-4f1d-9966-46ed6851c537" xsi:nil="true"/>
  </documentManagement>
</p:properties>
</file>

<file path=customXml/itemProps1.xml><?xml version="1.0" encoding="utf-8"?>
<ds:datastoreItem xmlns:ds="http://schemas.openxmlformats.org/officeDocument/2006/customXml" ds:itemID="{9AD48608-F0DE-4CB6-9BD2-61ABF87F29D9}"/>
</file>

<file path=customXml/itemProps2.xml><?xml version="1.0" encoding="utf-8"?>
<ds:datastoreItem xmlns:ds="http://schemas.openxmlformats.org/officeDocument/2006/customXml" ds:itemID="{504E90F5-D859-4A1C-BF8B-32BEB1CDC2F9}"/>
</file>

<file path=customXml/itemProps3.xml><?xml version="1.0" encoding="utf-8"?>
<ds:datastoreItem xmlns:ds="http://schemas.openxmlformats.org/officeDocument/2006/customXml" ds:itemID="{43AB8C7A-9F99-4C5D-BF4F-6097E3F3F4F0}"/>
</file>

<file path=docProps/app.xml><?xml version="1.0" encoding="utf-8"?>
<Properties xmlns="http://schemas.openxmlformats.org/officeDocument/2006/extended-properties" xmlns:vt="http://schemas.openxmlformats.org/officeDocument/2006/docPropsVTypes">
  <Template>Office Theme</Template>
  <TotalTime>1626</TotalTime>
  <Words>506</Words>
  <Application>Microsoft Macintosh PowerPoint</Application>
  <PresentationFormat>Widescreen</PresentationFormat>
  <Paragraphs>58</Paragraphs>
  <Slides>16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OE3C Catering Order Estimate</vt:lpstr>
      <vt:lpstr>Thursday Breakfast</vt:lpstr>
      <vt:lpstr>Thursday Breakfast</vt:lpstr>
      <vt:lpstr>Thursday Keynote Reception</vt:lpstr>
      <vt:lpstr>Friday Breakfast</vt:lpstr>
      <vt:lpstr>Friday Break</vt:lpstr>
      <vt:lpstr>Friday Posters</vt:lpstr>
      <vt:lpstr>Saturday Breakfast</vt:lpstr>
      <vt:lpstr>Saturday Break</vt:lpstr>
      <vt:lpstr>Saturday Closing Ceremonies</vt:lpstr>
      <vt:lpstr>Totals</vt:lpstr>
      <vt:lpstr>Lunch options </vt:lpstr>
      <vt:lpstr>Individual Hot Lunches </vt:lpstr>
      <vt:lpstr>Hot Lunch Buffets</vt:lpstr>
      <vt:lpstr>Cheap lunches </vt:lpstr>
      <vt:lpstr>Best lunch option (in my opinion)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Wilder</dc:creator>
  <cp:lastModifiedBy>Alex Wilder</cp:lastModifiedBy>
  <cp:revision>1</cp:revision>
  <dcterms:created xsi:type="dcterms:W3CDTF">2026-03-22T16:14:20Z</dcterms:created>
  <dcterms:modified xsi:type="dcterms:W3CDTF">2026-03-23T19:20:33Z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0x01010044B94294CB887F42BEEB8F68FE8A24CE</vt:lpwstr>
  </property>
</Properties>
</file>